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0.JPG" ContentType="image/png"/>
  <Override PartName="/ppt/notesSlides/notesSlide3.xml" ContentType="application/vnd.openxmlformats-officedocument.presentationml.notesSlide+xml"/>
  <Override PartName="/ppt/media/image31.JPG" ContentType="image/png"/>
  <Override PartName="/ppt/notesSlides/notesSlide4.xml" ContentType="application/vnd.openxmlformats-officedocument.presentationml.notesSlide+xml"/>
  <Override PartName="/ppt/media/image32.JPG" ContentType="image/png"/>
  <Override PartName="/ppt/notesSlides/notesSlide5.xml" ContentType="application/vnd.openxmlformats-officedocument.presentationml.notesSlide+xml"/>
  <Override PartName="/ppt/media/image33.JPG" ContentType="image/png"/>
  <Override PartName="/ppt/notesSlides/notesSlide6.xml" ContentType="application/vnd.openxmlformats-officedocument.presentationml.notesSlide+xml"/>
  <Override PartName="/ppt/media/image34.JPG" ContentType="image/png"/>
  <Override PartName="/ppt/notesSlides/notesSlide7.xml" ContentType="application/vnd.openxmlformats-officedocument.presentationml.notesSlide+xml"/>
  <Override PartName="/ppt/media/image35.JPG" ContentType="image/png"/>
  <Override PartName="/ppt/notesSlides/notesSlide8.xml" ContentType="application/vnd.openxmlformats-officedocument.presentationml.notesSlide+xml"/>
  <Override PartName="/ppt/media/image36.JPG" ContentType="image/png"/>
  <Override PartName="/ppt/notesSlides/notesSlide9.xml" ContentType="application/vnd.openxmlformats-officedocument.presentationml.notesSlide+xml"/>
  <Override PartName="/ppt/media/image37.JPG" ContentType="image/png"/>
  <Override PartName="/ppt/notesSlides/notesSlide10.xml" ContentType="application/vnd.openxmlformats-officedocument.presentationml.notesSlide+xml"/>
  <Override PartName="/ppt/media/image38.JPG" ContentType="image/png"/>
  <Override PartName="/ppt/notesSlides/notesSlide11.xml" ContentType="application/vnd.openxmlformats-officedocument.presentationml.notesSlide+xml"/>
  <Override PartName="/ppt/media/image39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779D3-6B9C-408C-A71A-27825E1FFD1C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FC54B-805A-4392-A24C-8DC32E600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2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03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42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1B62-67CA-80A7-E885-022387E3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804663-B4FB-5F79-D88D-ECDA0A7FC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C95011-A051-64AB-ADDC-B2E443C86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A08E3-C929-1D12-5181-B299802DC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178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7A0D-0369-11A6-3A3E-3A43ABFE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35DE6F-DBC7-6801-CAAA-ED1C9B87E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C5150-E419-0A5B-75D3-C1E840C5D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81E8-8C5E-778D-AC29-7D7153663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748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95B4-88E8-E3D4-C926-8B346826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08476F-3E92-8EF6-3A3D-3747517DC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5E34C0-2E94-D279-5438-5B291CA48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FF2242-7609-84C4-5FCA-5653538D6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37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EF06-443B-C4F4-AF94-79429D55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C49EBA-72BF-8E4A-4E17-9E5718FF8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6B17DE-82AE-57F2-6A29-6D61341F3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3DB4BE-60F0-338B-111D-7BBEFAC0F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7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2DDD-3873-86BF-6C8C-9D5B4665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24548B-4E02-3758-0A5E-B80A72A88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EE467E-EAAE-0770-0087-93CC350C4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F4163-6006-4AFC-C7B7-B03DFF175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77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0366-F8B0-7CEA-7AEE-35565E4B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8E3A28-A027-A123-FCC6-8DC23E4B4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8EC025-0190-4773-26F6-78104DDCF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F129F-B0ED-B95F-1529-249A73F57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102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FD2E-F9B6-6EB5-BEC5-C47E2BFE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28B5EB-44AD-66EB-A007-CCB609233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19C58-D36F-3663-F7BA-A8D84F7E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CEF622-87D3-4D2E-8C61-43EA12B52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800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7CA7-2D29-5FC5-450E-EC146904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ADD50-DC70-9B15-BE21-D50549C8B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05972-F3DD-99D4-3F9D-3B71BCFCA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4844AF-0619-DF3B-4BFD-FE7EB570D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632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6268-98B5-7DDD-8D2A-2E4405BE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942AF2-7527-72D5-D5BE-489886675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45B70D-4E74-E520-92E0-E89FD3D1E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E3D3B-E56C-1B68-EC49-0758A1754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C54B-805A-4392-A24C-8DC32E60014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0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6314-D615-3D0F-9EF2-A8BE5589E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4AA3CB-637C-DB59-CBA9-27A64AAD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FC8A3-2B32-AD69-8575-9372BA86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139D62-B425-A129-59F3-6519049C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33E3FA-E573-164D-27E4-AF926919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3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1D6C8-039F-3CD6-D8DA-0DDCE57C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555EE-4E9D-D031-1782-760B45D31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213E5-C8D0-A613-4F14-6534DA07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0ACCA-93C6-5BA2-013C-27E2B714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D42E3F-7E91-B009-006F-0931CEE1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28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B291A-379E-4129-69F5-877DBE49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B9B03-05B5-6ED2-EBC4-36DF0CB67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DCF254-3147-2A09-FF90-D4B6BF29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21F694-91B0-C983-9EEF-51DF6577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512BC-4E2B-8B75-7BEB-60186D9D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41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06113-4D32-CB07-9FC6-D7DF6E81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6162F-B253-EE3C-167B-C7440BBAF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E7196A-4522-B03D-6E40-5228C974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88855-A636-C0D8-A3EA-BEC8E987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6F5929-7A56-7626-DE87-6A3C767F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32FE0-ED99-A533-014B-9290DB16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14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9A76-E383-9A99-A528-E4BD0418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086DD5-2A42-4AD6-EAD5-ED3CF7B2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D58A17-6F5A-4EA8-E3C5-87C75D9B1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0E0D72-52A6-E621-40D8-978195FE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52F68B-238C-49BB-C8F2-9033F1CFF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4B93B1-E7AA-1C51-B9E0-00CDED9D4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12438D-3B32-FD1C-11C0-D820F4C1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E8961B-AAD9-7F1F-8920-242FC4D3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3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D64FF-81D0-1689-BA74-AD000DC2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0109E-10FA-0E39-FEE8-2E5F4522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5A0068-AF58-5697-063D-7A27D668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A7A47-AA6B-7C52-D0C0-630F75B6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96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C1AD8B-39FF-DD7F-8ED1-4C1AADDC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F537DB-B7AB-0460-A779-E38B3043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9AA1FD-06BE-2E09-D2E3-51595B31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89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4E4E5-2D1F-A87C-9E18-8E991684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78384-2533-5E0B-C043-1046FE694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04FA25-042D-C7D7-501F-A3BFC87F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769D17-8D91-D6F5-041E-1E83442D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ACCCF3-6E59-0CC2-8828-F51B3F52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733C0E-A2C4-F0E6-7AC4-17152EBE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8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B7356-FFF9-A90F-8E70-F698EA5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104EAF-1D58-B5A5-B2DD-8098CBEA7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6BD338-8B58-CA93-C6FC-D364DDD1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1A8950-B063-0BCF-1600-0FC2A863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84F7C-7E26-F68E-F6DA-1AFA9996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46BDE2-5544-85DE-F49D-8D2D4F8B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413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05ED9-253F-AC32-9000-40DD21C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0CF08F-C67D-4E7F-F929-DA0516624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D6ADA-7F68-28E7-2983-941CEA0D8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10748-23CA-DFBB-4FC0-73374C15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77A465-4734-3BFF-F66F-42EC669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02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794A76-2255-5AB8-071E-59FABC683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259EF8-795A-A071-CBD4-97E4C345E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EBCD2-B831-188F-F00D-F8F11ECB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55534-2DB8-BB10-0AC1-DE4D4EE6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ED91D-147D-D182-D436-D9E9C78E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5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3B4BB6-4E92-7316-F43C-851EC485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46ED09-2956-455A-9D49-F6890AB89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ABC8B-D7E4-1864-5A59-2681AAE9D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B4192-7976-4638-BA95-55CAAF6145F5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C225D-6A25-DC69-AC51-AF228CF07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230F9-A3F3-867D-8113-2E03127E3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A66DB-46FF-4CCB-B8D8-813E6CF9B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6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g-go-frontend-roan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sv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figma.com/proto/pZvfcw1phAMRwuc9jMhdpN/%EC%8B%A0%EC%8A%B9%EC%B2%A0-s-team-library?node-id=3312-14&amp;t=nusCEk9xqaredfqu-0&amp;scaling=min-zoom&amp;content-scaling=fixed&amp;page-id=0%3A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316CC5-4904-9362-B980-484FB47A9FA3}"/>
              </a:ext>
            </a:extLst>
          </p:cNvPr>
          <p:cNvSpPr txBox="1"/>
          <p:nvPr/>
        </p:nvSpPr>
        <p:spPr>
          <a:xfrm>
            <a:off x="6096000" y="2505670"/>
            <a:ext cx="6654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강아지 산책 예약 서비스 개발 프로젝트</a:t>
            </a:r>
            <a:endParaRPr lang="en-US" altLang="ko-KR" dirty="0"/>
          </a:p>
          <a:p>
            <a:r>
              <a:rPr lang="ko-KR" altLang="en-US" sz="1600" dirty="0"/>
              <a:t>프로젝트명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Dog_Go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925FB-CFB9-40AB-1083-74ECCDE057AB}"/>
              </a:ext>
            </a:extLst>
          </p:cNvPr>
          <p:cNvSpPr txBox="1"/>
          <p:nvPr/>
        </p:nvSpPr>
        <p:spPr>
          <a:xfrm>
            <a:off x="9948333" y="6265334"/>
            <a:ext cx="2116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팀명</a:t>
            </a:r>
            <a:r>
              <a:rPr lang="ko-KR" altLang="en-US" sz="1600" dirty="0"/>
              <a:t> </a:t>
            </a:r>
            <a:r>
              <a:rPr lang="en-US" altLang="ko-KR" sz="1600" dirty="0"/>
              <a:t>: Project-Shin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9CDA51-5980-A429-9EDE-67551ECFD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76" y="2267018"/>
            <a:ext cx="4336870" cy="433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6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해당 서비스 제작의 필요성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845AC-4748-40D5-8B4C-3BA3ECEA75A2}"/>
              </a:ext>
            </a:extLst>
          </p:cNvPr>
          <p:cNvSpPr txBox="1"/>
          <p:nvPr/>
        </p:nvSpPr>
        <p:spPr>
          <a:xfrm>
            <a:off x="3521217" y="1249675"/>
            <a:ext cx="537177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“ </a:t>
            </a:r>
            <a:r>
              <a:rPr lang="ko-KR" altLang="en-US" b="1" dirty="0"/>
              <a:t>바쁜 현대인들과 외로운 반려견의 입장을 만족</a:t>
            </a:r>
            <a:r>
              <a:rPr lang="en-US" altLang="ko-KR" b="1" dirty="0"/>
              <a:t>!</a:t>
            </a:r>
            <a:r>
              <a:rPr lang="en-US" altLang="ko-KR" dirty="0"/>
              <a:t> 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C8722-345F-41BC-9A8C-C0139EE08FCF}"/>
              </a:ext>
            </a:extLst>
          </p:cNvPr>
          <p:cNvSpPr txBox="1"/>
          <p:nvPr/>
        </p:nvSpPr>
        <p:spPr>
          <a:xfrm>
            <a:off x="4843314" y="2838336"/>
            <a:ext cx="6375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반려동물과 애견인의 인구는 기하급수적으로 상승 중</a:t>
            </a:r>
            <a:r>
              <a:rPr lang="en-US" altLang="ko-KR" dirty="0"/>
              <a:t>!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보통 맞벌이나 집에 항상 붙어있을 수 없는 현대인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이런 현대인과 집에 혼자 남아있는 반려견을 위한 서비스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FC8757-185B-46F8-5BC1-96E4F5944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0773">
            <a:off x="434671" y="2289714"/>
            <a:ext cx="2325764" cy="21549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A9A62F-261E-2636-F03F-10BCCA6F0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915" y="4287773"/>
            <a:ext cx="2329143" cy="15539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FD145E-9F06-AFBF-BC96-7C87B1E80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135" y="2613377"/>
            <a:ext cx="2550603" cy="196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6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２</a:t>
            </a:r>
            <a:r>
              <a:rPr lang="en-US" altLang="ko-KR" dirty="0"/>
              <a:t>. </a:t>
            </a:r>
            <a:r>
              <a:rPr lang="ko-KR" altLang="en-US" dirty="0"/>
              <a:t>웹사이트　소개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BF73A4E1-A5B9-42F1-802F-86447EA71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30634"/>
              </p:ext>
            </p:extLst>
          </p:nvPr>
        </p:nvGraphicFramePr>
        <p:xfrm>
          <a:off x="5627086" y="2303984"/>
          <a:ext cx="5746931" cy="3662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57">
                  <a:extLst>
                    <a:ext uri="{9D8B030D-6E8A-4147-A177-3AD203B41FA5}">
                      <a16:colId xmlns:a16="http://schemas.microsoft.com/office/drawing/2014/main" val="4073589279"/>
                    </a:ext>
                  </a:extLst>
                </a:gridCol>
                <a:gridCol w="4408874">
                  <a:extLst>
                    <a:ext uri="{9D8B030D-6E8A-4147-A177-3AD203B41FA5}">
                      <a16:colId xmlns:a16="http://schemas.microsoft.com/office/drawing/2014/main" val="2644205559"/>
                    </a:ext>
                  </a:extLst>
                </a:gridCol>
              </a:tblGrid>
              <a:tr h="3787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강아지 산책 예약 서비스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Dog_Go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847313"/>
                  </a:ext>
                </a:extLst>
              </a:tr>
              <a:tr h="5844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고객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모든 집에 있는 강아지 들과 직장 출근 등으로</a:t>
                      </a:r>
                      <a:endParaRPr lang="en-US" altLang="ko-KR" sz="1400" b="1" dirty="0"/>
                    </a:p>
                    <a:p>
                      <a:pPr latinLnBrk="1"/>
                      <a:r>
                        <a:rPr lang="ko-KR" altLang="en-US" sz="1400" b="1" dirty="0"/>
                        <a:t>바쁜 애견인들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961642"/>
                  </a:ext>
                </a:extLst>
              </a:tr>
              <a:tr h="3787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분류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 강아지 산책 대행 서비스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19207"/>
                  </a:ext>
                </a:extLst>
              </a:tr>
              <a:tr h="15723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설명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dirty="0"/>
                        <a:t>관리페이지</a:t>
                      </a:r>
                      <a:endParaRPr lang="en-US" altLang="ko-KR" sz="18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dirty="0"/>
                        <a:t>일일 강아지 산책 기록</a:t>
                      </a:r>
                      <a:endParaRPr lang="en-US" altLang="ko-KR" sz="18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dirty="0"/>
                        <a:t>예약확인</a:t>
                      </a:r>
                      <a:endParaRPr lang="en-US" altLang="ko-KR" sz="18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dirty="0"/>
                        <a:t>서비스 요금</a:t>
                      </a:r>
                      <a:endParaRPr lang="en-US" altLang="ko-KR" sz="18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800" dirty="0" err="1"/>
                        <a:t>QnA</a:t>
                      </a:r>
                      <a:endParaRPr lang="ko-KR" altLang="en-US" sz="1800" dirty="0"/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166379"/>
                  </a:ext>
                </a:extLst>
              </a:tr>
              <a:tr h="748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도메인</a:t>
                      </a:r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hlinkClick r:id="rId3"/>
                        </a:rPr>
                        <a:t>https://dog-go-frontend-roan.vercel.app</a:t>
                      </a:r>
                      <a:endParaRPr lang="ko-KR" altLang="en-US" sz="1400" b="1" spc="-300" dirty="0"/>
                    </a:p>
                  </a:txBody>
                  <a:tcPr marT="46639" marB="4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698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C2AA30-227A-4F5C-8734-8EA55B5C1076}"/>
              </a:ext>
            </a:extLst>
          </p:cNvPr>
          <p:cNvSpPr txBox="1"/>
          <p:nvPr/>
        </p:nvSpPr>
        <p:spPr>
          <a:xfrm>
            <a:off x="1877532" y="3787180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산책 예약 서비스</a:t>
            </a:r>
            <a:endParaRPr lang="ko-KR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7ABE4-8DCA-4AD3-B1AC-B1EF02DEB844}"/>
              </a:ext>
            </a:extLst>
          </p:cNvPr>
          <p:cNvSpPr txBox="1"/>
          <p:nvPr/>
        </p:nvSpPr>
        <p:spPr>
          <a:xfrm>
            <a:off x="501289" y="4660736"/>
            <a:ext cx="4833257" cy="923330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바쁜 현대인들을 위한</a:t>
            </a:r>
            <a:r>
              <a:rPr lang="en-US" altLang="ko-KR" dirty="0"/>
              <a:t>, </a:t>
            </a:r>
            <a:r>
              <a:rPr lang="ko-KR" altLang="en-US" dirty="0"/>
              <a:t>방에 방치되어 있는</a:t>
            </a:r>
            <a:endParaRPr lang="en-US" altLang="ko-KR" dirty="0"/>
          </a:p>
          <a:p>
            <a:r>
              <a:rPr lang="ko-KR" altLang="en-US" dirty="0"/>
              <a:t>반려견을 위한</a:t>
            </a:r>
            <a:r>
              <a:rPr lang="en-US" altLang="ko-KR" dirty="0"/>
              <a:t>, </a:t>
            </a:r>
            <a:r>
              <a:rPr lang="ko-KR" altLang="en-US" dirty="0"/>
              <a:t>산책</a:t>
            </a:r>
            <a:r>
              <a:rPr lang="en-US" altLang="ko-KR" dirty="0"/>
              <a:t> &amp; </a:t>
            </a:r>
            <a:r>
              <a:rPr lang="ko-KR" altLang="en-US" dirty="0"/>
              <a:t>이벤트 예약 서비스</a:t>
            </a:r>
            <a:endParaRPr lang="en-US" altLang="ko-KR" dirty="0"/>
          </a:p>
          <a:p>
            <a:r>
              <a:rPr lang="ko-KR" altLang="en-US" dirty="0"/>
              <a:t>모두 함께 이용해 보세요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6F5269-E3FC-FBD4-6BF6-2FCAC7A05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720" y="2061474"/>
            <a:ext cx="1725706" cy="17257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A95EE-6687-DE61-B2A3-BDC512D7E549}"/>
              </a:ext>
            </a:extLst>
          </p:cNvPr>
          <p:cNvSpPr txBox="1"/>
          <p:nvPr/>
        </p:nvSpPr>
        <p:spPr>
          <a:xfrm>
            <a:off x="2164976" y="1273934"/>
            <a:ext cx="793824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“</a:t>
            </a:r>
            <a:r>
              <a:rPr lang="ko-KR" altLang="en-US" b="1" dirty="0"/>
              <a:t>나의 소중한 반려견을 위해 산책 및 놀이를 예약 할 수 있는 사이트를 제작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0173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-1531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3. </a:t>
            </a:r>
            <a:r>
              <a:rPr lang="ko-KR" altLang="en-US" dirty="0"/>
              <a:t>포트폴리오 사이트 특징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19973FF-EEDD-4130-A464-618CDE8B61CE}"/>
              </a:ext>
            </a:extLst>
          </p:cNvPr>
          <p:cNvSpPr/>
          <p:nvPr/>
        </p:nvSpPr>
        <p:spPr>
          <a:xfrm>
            <a:off x="5078963" y="1026367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D49B980-782F-4010-AD93-778F65BC3707}"/>
              </a:ext>
            </a:extLst>
          </p:cNvPr>
          <p:cNvSpPr/>
          <p:nvPr/>
        </p:nvSpPr>
        <p:spPr>
          <a:xfrm>
            <a:off x="345233" y="3991933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5EF8EEC-75C9-42A3-9D91-5EC341BA94FA}"/>
              </a:ext>
            </a:extLst>
          </p:cNvPr>
          <p:cNvSpPr/>
          <p:nvPr/>
        </p:nvSpPr>
        <p:spPr>
          <a:xfrm>
            <a:off x="2790770" y="3991933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66384F8-F99B-429C-8128-29CC9A2E8E9B}"/>
              </a:ext>
            </a:extLst>
          </p:cNvPr>
          <p:cNvSpPr/>
          <p:nvPr/>
        </p:nvSpPr>
        <p:spPr>
          <a:xfrm>
            <a:off x="5145513" y="3991933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848FB35-EC87-4C83-8AA6-C6C47C133B26}"/>
              </a:ext>
            </a:extLst>
          </p:cNvPr>
          <p:cNvSpPr/>
          <p:nvPr/>
        </p:nvSpPr>
        <p:spPr>
          <a:xfrm>
            <a:off x="9812694" y="3991933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7C68354-8C0F-463C-AF13-D75DAFBAAAC5}"/>
              </a:ext>
            </a:extLst>
          </p:cNvPr>
          <p:cNvSpPr/>
          <p:nvPr/>
        </p:nvSpPr>
        <p:spPr>
          <a:xfrm>
            <a:off x="7500256" y="3991933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33C4DEBB-53E3-4DA6-A52D-4581F768F9C1}"/>
              </a:ext>
            </a:extLst>
          </p:cNvPr>
          <p:cNvCxnSpPr>
            <a:cxnSpLocks/>
            <a:stCxn id="2" idx="4"/>
            <a:endCxn id="25" idx="0"/>
          </p:cNvCxnSpPr>
          <p:nvPr/>
        </p:nvCxnSpPr>
        <p:spPr>
          <a:xfrm rot="5400000">
            <a:off x="3230732" y="1126664"/>
            <a:ext cx="996807" cy="47337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C66FDAF-E9E3-4BF9-B35C-BAAE6D40F630}"/>
              </a:ext>
            </a:extLst>
          </p:cNvPr>
          <p:cNvCxnSpPr>
            <a:stCxn id="2" idx="4"/>
            <a:endCxn id="26" idx="0"/>
          </p:cNvCxnSpPr>
          <p:nvPr/>
        </p:nvCxnSpPr>
        <p:spPr>
          <a:xfrm rot="5400000">
            <a:off x="4453501" y="2349433"/>
            <a:ext cx="996807" cy="22881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561DCF77-870D-4611-92E9-4E428890F4A0}"/>
              </a:ext>
            </a:extLst>
          </p:cNvPr>
          <p:cNvCxnSpPr>
            <a:stCxn id="2" idx="4"/>
            <a:endCxn id="27" idx="0"/>
          </p:cNvCxnSpPr>
          <p:nvPr/>
        </p:nvCxnSpPr>
        <p:spPr>
          <a:xfrm rot="16200000" flipH="1">
            <a:off x="5630872" y="3460254"/>
            <a:ext cx="996807" cy="66550"/>
          </a:xfrm>
          <a:prstGeom prst="bentConnector3">
            <a:avLst>
              <a:gd name="adj1" fmla="val 509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FBDF520-91FD-4A56-89E3-5ED1F120F42D}"/>
              </a:ext>
            </a:extLst>
          </p:cNvPr>
          <p:cNvCxnSpPr>
            <a:stCxn id="2" idx="4"/>
            <a:endCxn id="29" idx="0"/>
          </p:cNvCxnSpPr>
          <p:nvPr/>
        </p:nvCxnSpPr>
        <p:spPr>
          <a:xfrm rot="16200000" flipH="1">
            <a:off x="6808243" y="2282882"/>
            <a:ext cx="996807" cy="24212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C94F7B4-ED76-432C-B31E-9CAACE6084EE}"/>
              </a:ext>
            </a:extLst>
          </p:cNvPr>
          <p:cNvCxnSpPr>
            <a:stCxn id="2" idx="4"/>
            <a:endCxn id="28" idx="0"/>
          </p:cNvCxnSpPr>
          <p:nvPr/>
        </p:nvCxnSpPr>
        <p:spPr>
          <a:xfrm rot="16200000" flipH="1">
            <a:off x="7964462" y="1126663"/>
            <a:ext cx="996807" cy="4733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1242315D-BA75-486A-87A3-449123200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80" y="4247167"/>
            <a:ext cx="1062774" cy="11187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611399E-60A4-49AD-9570-6A2185F1F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170" y="4247163"/>
            <a:ext cx="1062774" cy="111870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8B66C06-121C-43AC-BC8A-06EADDE3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913" y="4247164"/>
            <a:ext cx="1062774" cy="1118709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C7A34FE-CEE3-4197-892D-9BBAC5BC7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742" y="4247165"/>
            <a:ext cx="1062774" cy="111870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6D661B9-A666-4DC2-86FB-7A422C55C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333" y="4247166"/>
            <a:ext cx="1062774" cy="111870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9953AAE-BE05-49A5-9540-97CA46B23063}"/>
              </a:ext>
            </a:extLst>
          </p:cNvPr>
          <p:cNvSpPr txBox="1"/>
          <p:nvPr/>
        </p:nvSpPr>
        <p:spPr>
          <a:xfrm>
            <a:off x="692855" y="5412745"/>
            <a:ext cx="133882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latin typeface="Arial Rounded MT Bold" panose="020F0704030504030204" pitchFamily="34" charset="0"/>
              </a:rPr>
              <a:t>관리페이지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D54207-98C8-49BC-9434-76A3ABBCC234}"/>
              </a:ext>
            </a:extLst>
          </p:cNvPr>
          <p:cNvSpPr txBox="1"/>
          <p:nvPr/>
        </p:nvSpPr>
        <p:spPr>
          <a:xfrm>
            <a:off x="2558741" y="5419772"/>
            <a:ext cx="243528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Arial Rounded MT Bold" panose="020F0704030504030204" pitchFamily="34" charset="0"/>
              </a:rPr>
              <a:t>일일 강아지 산책 기록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86DE0E-9A33-4E0E-85BD-AF1F599646F4}"/>
              </a:ext>
            </a:extLst>
          </p:cNvPr>
          <p:cNvSpPr txBox="1"/>
          <p:nvPr/>
        </p:nvSpPr>
        <p:spPr>
          <a:xfrm>
            <a:off x="5608551" y="5419772"/>
            <a:ext cx="110799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latin typeface="Arial Rounded MT Bold" panose="020F0704030504030204" pitchFamily="34" charset="0"/>
              </a:rPr>
              <a:t>예약확인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87AB78-B925-4585-AF28-E2A1B1C93EEF}"/>
              </a:ext>
            </a:extLst>
          </p:cNvPr>
          <p:cNvSpPr txBox="1"/>
          <p:nvPr/>
        </p:nvSpPr>
        <p:spPr>
          <a:xfrm>
            <a:off x="7819024" y="5410808"/>
            <a:ext cx="139653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Arial Rounded MT Bold" panose="020F0704030504030204" pitchFamily="34" charset="0"/>
              </a:rPr>
              <a:t>서비스 요금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5D45A5-59B3-4054-9DD1-8E0B1E91FCA9}"/>
              </a:ext>
            </a:extLst>
          </p:cNvPr>
          <p:cNvSpPr txBox="1"/>
          <p:nvPr/>
        </p:nvSpPr>
        <p:spPr>
          <a:xfrm>
            <a:off x="10492939" y="5406932"/>
            <a:ext cx="67358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Arial Rounded MT Bold" panose="020F0704030504030204" pitchFamily="34" charset="0"/>
              </a:rPr>
              <a:t>QnA</a:t>
            </a:r>
            <a:endParaRPr lang="ko-KR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BE63F9-CEBF-47A7-B25F-522E5C6B7EE2}"/>
              </a:ext>
            </a:extLst>
          </p:cNvPr>
          <p:cNvSpPr txBox="1"/>
          <p:nvPr/>
        </p:nvSpPr>
        <p:spPr>
          <a:xfrm>
            <a:off x="43929" y="6405839"/>
            <a:ext cx="2864887" cy="276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/>
              <a:t>예약 기록을 관리해주는 관리자 페이지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FFF639-53B5-46A9-90AF-11311C407703}"/>
              </a:ext>
            </a:extLst>
          </p:cNvPr>
          <p:cNvSpPr txBox="1"/>
          <p:nvPr/>
        </p:nvSpPr>
        <p:spPr>
          <a:xfrm>
            <a:off x="3022920" y="6417011"/>
            <a:ext cx="3381054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/>
              <a:t>일일 산책한 강아지의 기록을 보여주는 페이지</a:t>
            </a:r>
            <a:endParaRPr lang="ko-KR" altLang="en-US" sz="1200" dirty="0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CA2A6FD-52DD-4ABC-BE3B-ED064EB324ED}"/>
              </a:ext>
            </a:extLst>
          </p:cNvPr>
          <p:cNvCxnSpPr>
            <a:stCxn id="25" idx="4"/>
            <a:endCxn id="55" idx="0"/>
          </p:cNvCxnSpPr>
          <p:nvPr/>
        </p:nvCxnSpPr>
        <p:spPr>
          <a:xfrm>
            <a:off x="1362270" y="5960692"/>
            <a:ext cx="114103" cy="445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3F25AA16-F74B-4197-B75E-0F30DAD87763}"/>
              </a:ext>
            </a:extLst>
          </p:cNvPr>
          <p:cNvCxnSpPr>
            <a:stCxn id="26" idx="4"/>
            <a:endCxn id="56" idx="0"/>
          </p:cNvCxnSpPr>
          <p:nvPr/>
        </p:nvCxnSpPr>
        <p:spPr>
          <a:xfrm>
            <a:off x="3807807" y="5960692"/>
            <a:ext cx="905640" cy="45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742CDB3-A891-4537-A14C-F763F5771CBF}"/>
              </a:ext>
            </a:extLst>
          </p:cNvPr>
          <p:cNvSpPr txBox="1"/>
          <p:nvPr/>
        </p:nvSpPr>
        <p:spPr>
          <a:xfrm>
            <a:off x="6486243" y="6495083"/>
            <a:ext cx="2919389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/>
              <a:t>사용자의 예약을 확인할 수 있는 페이지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431213C-DCCB-4D24-A64F-71C25A57F8EA}"/>
              </a:ext>
            </a:extLst>
          </p:cNvPr>
          <p:cNvCxnSpPr>
            <a:cxnSpLocks/>
            <a:stCxn id="27" idx="4"/>
            <a:endCxn id="66" idx="0"/>
          </p:cNvCxnSpPr>
          <p:nvPr/>
        </p:nvCxnSpPr>
        <p:spPr>
          <a:xfrm>
            <a:off x="6162550" y="5960692"/>
            <a:ext cx="1783388" cy="534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C543B3F-E15C-4F5E-A9A9-3D73DC68D446}"/>
              </a:ext>
            </a:extLst>
          </p:cNvPr>
          <p:cNvSpPr txBox="1"/>
          <p:nvPr/>
        </p:nvSpPr>
        <p:spPr>
          <a:xfrm>
            <a:off x="7945937" y="6077424"/>
            <a:ext cx="2249334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/>
              <a:t>해당 서비스 요금 확인 페이지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A2DEB2C-7A8C-4D75-87EB-FD489F99B107}"/>
              </a:ext>
            </a:extLst>
          </p:cNvPr>
          <p:cNvCxnSpPr>
            <a:cxnSpLocks/>
            <a:stCxn id="29" idx="4"/>
            <a:endCxn id="69" idx="0"/>
          </p:cNvCxnSpPr>
          <p:nvPr/>
        </p:nvCxnSpPr>
        <p:spPr>
          <a:xfrm>
            <a:off x="8517293" y="5960692"/>
            <a:ext cx="553311" cy="116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47AC66B-4ACC-DD31-E6DD-9A7AD9E33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146" y="1096753"/>
            <a:ext cx="1725706" cy="17257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1C5F399-0C8A-4DA5-83A2-0420CB917B3D}"/>
              </a:ext>
            </a:extLst>
          </p:cNvPr>
          <p:cNvSpPr txBox="1"/>
          <p:nvPr/>
        </p:nvSpPr>
        <p:spPr>
          <a:xfrm>
            <a:off x="9923930" y="6405837"/>
            <a:ext cx="1924952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/>
              <a:t>사용자 </a:t>
            </a:r>
            <a:r>
              <a:rPr lang="en-US" altLang="ko-KR" sz="1200" dirty="0" err="1"/>
              <a:t>QnA</a:t>
            </a:r>
            <a:r>
              <a:rPr lang="en-US" altLang="ko-KR" sz="1200" dirty="0"/>
              <a:t> </a:t>
            </a:r>
            <a:r>
              <a:rPr lang="ko-KR" altLang="en-US" sz="1200" dirty="0"/>
              <a:t>입력 페이지 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AE5822E-9820-478B-882C-6CCFEDD807FB}"/>
              </a:ext>
            </a:extLst>
          </p:cNvPr>
          <p:cNvCxnSpPr>
            <a:cxnSpLocks/>
            <a:stCxn id="28" idx="4"/>
            <a:endCxn id="76" idx="0"/>
          </p:cNvCxnSpPr>
          <p:nvPr/>
        </p:nvCxnSpPr>
        <p:spPr>
          <a:xfrm>
            <a:off x="10829731" y="5960692"/>
            <a:ext cx="56675" cy="445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269051-BBFC-493C-B1A1-8DC05A81FD4D}"/>
              </a:ext>
            </a:extLst>
          </p:cNvPr>
          <p:cNvSpPr txBox="1"/>
          <p:nvPr/>
        </p:nvSpPr>
        <p:spPr>
          <a:xfrm>
            <a:off x="5330457" y="2662620"/>
            <a:ext cx="1528024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Ebrima" panose="02000000000000000000" pitchFamily="2" charset="0"/>
                <a:cs typeface="Ebrima" panose="02000000000000000000" pitchFamily="2" charset="0"/>
              </a:rPr>
              <a:t>산책 예약 서비스</a:t>
            </a:r>
          </a:p>
        </p:txBody>
      </p:sp>
    </p:spTree>
    <p:extLst>
      <p:ext uri="{BB962C8B-B14F-4D97-AF65-F5344CB8AC3E}">
        <p14:creationId xmlns:p14="http://schemas.microsoft.com/office/powerpoint/2010/main" val="307053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포트폴리오 사이트 이용방법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19973FF-EEDD-4130-A464-618CDE8B61CE}"/>
              </a:ext>
            </a:extLst>
          </p:cNvPr>
          <p:cNvSpPr/>
          <p:nvPr/>
        </p:nvSpPr>
        <p:spPr>
          <a:xfrm>
            <a:off x="4533525" y="2653182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C589F54-14C2-4A91-AE5C-E59318DA72DE}"/>
              </a:ext>
            </a:extLst>
          </p:cNvPr>
          <p:cNvSpPr/>
          <p:nvPr/>
        </p:nvSpPr>
        <p:spPr>
          <a:xfrm>
            <a:off x="526187" y="2626566"/>
            <a:ext cx="2034073" cy="1968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817FDA-5691-4589-AE63-3D954517C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36" y="3027783"/>
            <a:ext cx="717687" cy="94316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57380A9-7218-4CD9-A5D9-5DD7CA5554FF}"/>
              </a:ext>
            </a:extLst>
          </p:cNvPr>
          <p:cNvSpPr txBox="1"/>
          <p:nvPr/>
        </p:nvSpPr>
        <p:spPr>
          <a:xfrm>
            <a:off x="585268" y="4072809"/>
            <a:ext cx="191590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Arial Rounded MT Bold" panose="020F0704030504030204" pitchFamily="34" charset="0"/>
              </a:rPr>
              <a:t>웹사이트 이용자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7856063-9B3A-445A-980E-1DCD261B08C5}"/>
              </a:ext>
            </a:extLst>
          </p:cNvPr>
          <p:cNvCxnSpPr>
            <a:cxnSpLocks/>
            <a:stCxn id="44" idx="6"/>
            <a:endCxn id="2" idx="2"/>
          </p:cNvCxnSpPr>
          <p:nvPr/>
        </p:nvCxnSpPr>
        <p:spPr>
          <a:xfrm>
            <a:off x="2560260" y="3610946"/>
            <a:ext cx="1973265" cy="26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C0AFE0-346B-4A2E-AA14-10C0A9D2A4A1}"/>
              </a:ext>
            </a:extLst>
          </p:cNvPr>
          <p:cNvSpPr txBox="1"/>
          <p:nvPr/>
        </p:nvSpPr>
        <p:spPr>
          <a:xfrm>
            <a:off x="7135801" y="2344899"/>
            <a:ext cx="4991878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홈페이지에 접속한다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(</a:t>
            </a:r>
            <a:r>
              <a:rPr lang="ko-KR" altLang="en-US" dirty="0"/>
              <a:t>관리자는 회원가입 및 로그인을 할 수 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메인 페이지에서 산책 예약을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(</a:t>
            </a:r>
            <a:r>
              <a:rPr lang="ko-KR" altLang="en-US" dirty="0"/>
              <a:t>관리자는 사용자의 예약을 관리할 수 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사용자는 관리자에게 의견을 남길 수 있다</a:t>
            </a:r>
            <a:r>
              <a:rPr lang="en-US" altLang="ko-KR" dirty="0"/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1DA27C-78D6-41FC-A7BC-46494865A8CE}"/>
              </a:ext>
            </a:extLst>
          </p:cNvPr>
          <p:cNvSpPr txBox="1"/>
          <p:nvPr/>
        </p:nvSpPr>
        <p:spPr>
          <a:xfrm>
            <a:off x="3027974" y="3452896"/>
            <a:ext cx="91539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 Rounded MT Bold" panose="020F0704030504030204" pitchFamily="34" charset="0"/>
              </a:rPr>
              <a:t>1. </a:t>
            </a:r>
            <a:r>
              <a:rPr lang="ko-KR" altLang="en-US" dirty="0">
                <a:latin typeface="Arial Rounded MT Bold" panose="020F0704030504030204" pitchFamily="34" charset="0"/>
              </a:rPr>
              <a:t>접속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30581A5-BAA4-4A11-8370-24F6A96763EA}"/>
              </a:ext>
            </a:extLst>
          </p:cNvPr>
          <p:cNvCxnSpPr>
            <a:cxnSpLocks/>
            <a:stCxn id="2" idx="6"/>
            <a:endCxn id="12" idx="1"/>
          </p:cNvCxnSpPr>
          <p:nvPr/>
        </p:nvCxnSpPr>
        <p:spPr>
          <a:xfrm flipV="1">
            <a:off x="6567598" y="3637561"/>
            <a:ext cx="5682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59B1C73-529D-5FF0-399F-ADF282337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45" y="2716435"/>
            <a:ext cx="1725706" cy="17257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269051-BBFC-493C-B1A1-8DC05A81FD4D}"/>
              </a:ext>
            </a:extLst>
          </p:cNvPr>
          <p:cNvSpPr txBox="1"/>
          <p:nvPr/>
        </p:nvSpPr>
        <p:spPr>
          <a:xfrm>
            <a:off x="4834179" y="4259894"/>
            <a:ext cx="1576072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Arial Rounded MT Bold" panose="020F0704030504030204" pitchFamily="34" charset="0"/>
              </a:rPr>
              <a:t>산책 예약 서비스</a:t>
            </a:r>
          </a:p>
        </p:txBody>
      </p:sp>
    </p:spTree>
    <p:extLst>
      <p:ext uri="{BB962C8B-B14F-4D97-AF65-F5344CB8AC3E}">
        <p14:creationId xmlns:p14="http://schemas.microsoft.com/office/powerpoint/2010/main" val="114392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5. </a:t>
            </a:r>
            <a:r>
              <a:rPr lang="ko-KR" altLang="en-US" dirty="0"/>
              <a:t>프로젝트 제작 기술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8BCE8B4C-E1BF-4EFB-944C-D4D571373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97342"/>
              </p:ext>
            </p:extLst>
          </p:nvPr>
        </p:nvGraphicFramePr>
        <p:xfrm>
          <a:off x="2153969" y="1218158"/>
          <a:ext cx="8128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861">
                  <a:extLst>
                    <a:ext uri="{9D8B030D-6E8A-4147-A177-3AD203B41FA5}">
                      <a16:colId xmlns:a16="http://schemas.microsoft.com/office/drawing/2014/main" val="2047538848"/>
                    </a:ext>
                  </a:extLst>
                </a:gridCol>
                <a:gridCol w="5112139">
                  <a:extLst>
                    <a:ext uri="{9D8B030D-6E8A-4147-A177-3AD203B41FA5}">
                      <a16:colId xmlns:a16="http://schemas.microsoft.com/office/drawing/2014/main" val="3201498542"/>
                    </a:ext>
                  </a:extLst>
                </a:gridCol>
              </a:tblGrid>
              <a:tr h="5409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웹 디자인 및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파워 포인트를 이용한 개발 계획서 작성 및 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Figma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파일을 이용한 웹 사이트 디자인 참고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158706"/>
                  </a:ext>
                </a:extLst>
              </a:tr>
              <a:tr h="5409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웹 퍼블리싱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Figma </a:t>
                      </a:r>
                      <a:r>
                        <a:rPr lang="ko-KR" altLang="en-US" sz="1600" dirty="0"/>
                        <a:t>디자인 파일을 이용한 기본 </a:t>
                      </a:r>
                      <a:r>
                        <a:rPr lang="en-US" altLang="ko-KR" sz="1600" dirty="0"/>
                        <a:t>html5 + css3 </a:t>
                      </a:r>
                    </a:p>
                    <a:p>
                      <a:pPr latinLnBrk="1"/>
                      <a:r>
                        <a:rPr lang="ko-KR" altLang="en-US" sz="1600" dirty="0"/>
                        <a:t>웹 사이트 뼈대 작성 및 디자인 작업 실시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44277"/>
                  </a:ext>
                </a:extLst>
              </a:tr>
              <a:tr h="5409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웹 개발</a:t>
                      </a:r>
                      <a:r>
                        <a:rPr lang="en-US" altLang="ko-KR" b="1" dirty="0"/>
                        <a:t>(Front)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React</a:t>
                      </a:r>
                      <a:r>
                        <a:rPr lang="ko-KR" altLang="en-US" sz="1600" dirty="0"/>
                        <a:t>와 </a:t>
                      </a:r>
                      <a:r>
                        <a:rPr lang="en-US" altLang="ko-KR" sz="1600" dirty="0"/>
                        <a:t>React Routing</a:t>
                      </a:r>
                      <a:r>
                        <a:rPr lang="ko-KR" altLang="en-US" sz="1600" dirty="0"/>
                        <a:t>을 이용하여 페이지 이동과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산책 예약 서비스 제작 실시</a:t>
                      </a:r>
                      <a:endParaRPr lang="en-US" altLang="ko-KR" sz="16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관리자 페이지는 관리자만 접속할 수 있도록 제작</a:t>
                      </a:r>
                      <a:endParaRPr lang="en-US" altLang="ko-KR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41086"/>
                  </a:ext>
                </a:extLst>
              </a:tr>
              <a:tr h="540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웹 개발</a:t>
                      </a:r>
                      <a:r>
                        <a:rPr lang="en-US" altLang="ko-KR" b="1" dirty="0"/>
                        <a:t>(Back)</a:t>
                      </a:r>
                      <a:endParaRPr lang="ko-KR" altLang="en-US" b="1" dirty="0"/>
                    </a:p>
                    <a:p>
                      <a:pPr latinLnBrk="1"/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Spring Boot3 </a:t>
                      </a:r>
                      <a:r>
                        <a:rPr lang="ko-KR" altLang="en-US" sz="1600" dirty="0"/>
                        <a:t>기반 페이지 제작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기본언어로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Java</a:t>
                      </a:r>
                      <a:r>
                        <a:rPr lang="ko-KR" altLang="en-US" sz="1600" dirty="0"/>
                        <a:t>를 사용하며</a:t>
                      </a:r>
                      <a:r>
                        <a:rPr lang="en-US" altLang="ko-KR" sz="1600" dirty="0"/>
                        <a:t>, JPA</a:t>
                      </a:r>
                      <a:r>
                        <a:rPr lang="ko-KR" altLang="en-US" sz="1600" dirty="0"/>
                        <a:t>를 사용하여 페이지 제작</a:t>
                      </a:r>
                      <a:endParaRPr lang="en-US" altLang="ko-KR" sz="16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Spring Data JPA, JPQL </a:t>
                      </a:r>
                      <a:r>
                        <a:rPr lang="ko-KR" altLang="en-US" sz="1600" dirty="0"/>
                        <a:t>언어를 이용하여 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DB </a:t>
                      </a:r>
                      <a:r>
                        <a:rPr lang="ko-KR" altLang="en-US" sz="1600" dirty="0"/>
                        <a:t>설계 및 개발 실시</a:t>
                      </a:r>
                      <a:endParaRPr lang="en-US" altLang="ko-KR" sz="16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DB</a:t>
                      </a:r>
                      <a:r>
                        <a:rPr lang="ko-KR" altLang="en-US" sz="1600" dirty="0"/>
                        <a:t>는 </a:t>
                      </a:r>
                      <a:r>
                        <a:rPr lang="en-US" altLang="ko-KR" sz="1600" dirty="0"/>
                        <a:t>PostgreSQL</a:t>
                      </a:r>
                      <a:r>
                        <a:rPr lang="ko-KR" altLang="en-US" sz="1600" dirty="0"/>
                        <a:t>을 사용하여 시퀀스 넘버 관리</a:t>
                      </a:r>
                      <a:endParaRPr lang="en-US" altLang="ko-KR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72895"/>
                  </a:ext>
                </a:extLst>
              </a:tr>
              <a:tr h="4694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버전 관리 및 배포 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깃허브</a:t>
                      </a:r>
                      <a:r>
                        <a:rPr lang="ko-KR" altLang="en-US" sz="1600" dirty="0"/>
                        <a:t> 시스템으로 버전 관리 및 개발 프로젝트 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관리 실시</a:t>
                      </a:r>
                      <a:endParaRPr lang="en-US" altLang="ko-KR" sz="16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Railway : PostgreSQL DB, </a:t>
                      </a:r>
                      <a:r>
                        <a:rPr lang="ko-KR" altLang="en-US" sz="1600" dirty="0" err="1"/>
                        <a:t>백엔드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클라우드 호스팅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 err="1"/>
                        <a:t>Vercel</a:t>
                      </a:r>
                      <a:r>
                        <a:rPr lang="en-US" altLang="ko-KR" sz="1600" dirty="0"/>
                        <a:t> : Front </a:t>
                      </a:r>
                      <a:r>
                        <a:rPr lang="ko-KR" altLang="en-US" sz="1600" dirty="0"/>
                        <a:t>페이지 호스팅</a:t>
                      </a:r>
                      <a:endParaRPr lang="en-US" altLang="ko-KR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22103"/>
                  </a:ext>
                </a:extLst>
              </a:tr>
            </a:tbl>
          </a:graphicData>
        </a:graphic>
      </p:graphicFrame>
      <p:pic>
        <p:nvPicPr>
          <p:cNvPr id="18" name="그래픽 17">
            <a:extLst>
              <a:ext uri="{FF2B5EF4-FFF2-40B4-BE49-F238E27FC236}">
                <a16:creationId xmlns:a16="http://schemas.microsoft.com/office/drawing/2014/main" id="{5E48C036-803B-4AC5-9EC1-DC13F4884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1" y="2357929"/>
            <a:ext cx="991862" cy="991862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F1EDFE4F-F31C-4FDB-9353-E25F95EB6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9955" y="820107"/>
            <a:ext cx="578503" cy="880007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A3CBCE3D-85E3-401E-8173-62D45AABF0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8949" y="5979375"/>
            <a:ext cx="1346620" cy="36283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8A71ED1-3024-4B96-A621-8AA42BFD92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931" y="3176491"/>
            <a:ext cx="1461795" cy="730136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D37E1FA1-8F6F-4791-AD5B-7EDCC80B56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788" y="4153842"/>
            <a:ext cx="1794005" cy="465112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81B81F9A-4EB8-4A53-A44E-FA9651723F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610" y="838853"/>
            <a:ext cx="714183" cy="991862"/>
          </a:xfrm>
          <a:prstGeom prst="rect">
            <a:avLst/>
          </a:prstGeom>
        </p:spPr>
      </p:pic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490C15A-78D4-4410-9703-49A2F91B3FE7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12793" y="1334784"/>
            <a:ext cx="1387158" cy="74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901E336-24A8-4ED7-B1F1-451741630F1F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004573" y="2198947"/>
            <a:ext cx="1195378" cy="654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A19588B-9785-49D8-B63B-3A1E87044600}"/>
              </a:ext>
            </a:extLst>
          </p:cNvPr>
          <p:cNvCxnSpPr>
            <a:stCxn id="20" idx="1"/>
          </p:cNvCxnSpPr>
          <p:nvPr/>
        </p:nvCxnSpPr>
        <p:spPr>
          <a:xfrm flipH="1">
            <a:off x="10395788" y="1260111"/>
            <a:ext cx="694167" cy="23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D157A0F0-8057-49F5-B917-F44FCE58D7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90" y="3174691"/>
            <a:ext cx="702901" cy="649481"/>
          </a:xfrm>
          <a:prstGeom prst="rect">
            <a:avLst/>
          </a:prstGeom>
        </p:spPr>
      </p:pic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6E24E30-5D22-4187-9E59-2B32CEFC357D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1439641" y="2988367"/>
            <a:ext cx="671286" cy="18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3CC7E93-F613-4282-968D-87B535CFB7D6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817702" y="3885158"/>
            <a:ext cx="336267" cy="513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6AAE6FC-6DB7-4BE9-8E2C-E6F733833B94}"/>
              </a:ext>
            </a:extLst>
          </p:cNvPr>
          <p:cNvCxnSpPr>
            <a:stCxn id="24" idx="1"/>
            <a:endCxn id="3" idx="3"/>
          </p:cNvCxnSpPr>
          <p:nvPr/>
        </p:nvCxnSpPr>
        <p:spPr>
          <a:xfrm flipH="1">
            <a:off x="10281969" y="3541559"/>
            <a:ext cx="242962" cy="343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6D35FFC-2B19-4444-BE8D-82BD50DA5270}"/>
              </a:ext>
            </a:extLst>
          </p:cNvPr>
          <p:cNvCxnSpPr>
            <a:cxnSpLocks/>
          </p:cNvCxnSpPr>
          <p:nvPr/>
        </p:nvCxnSpPr>
        <p:spPr>
          <a:xfrm flipH="1" flipV="1">
            <a:off x="10281969" y="4482893"/>
            <a:ext cx="336267" cy="16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BC9B096-6219-4542-B1F4-28FB4EF6B54A}"/>
              </a:ext>
            </a:extLst>
          </p:cNvPr>
          <p:cNvCxnSpPr>
            <a:cxnSpLocks/>
          </p:cNvCxnSpPr>
          <p:nvPr/>
        </p:nvCxnSpPr>
        <p:spPr>
          <a:xfrm flipV="1">
            <a:off x="1602262" y="5709682"/>
            <a:ext cx="551707" cy="21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32FD33C8-0062-476D-A517-2191EF543B63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0281969" y="6120646"/>
            <a:ext cx="196980" cy="40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그래픽 72">
            <a:extLst>
              <a:ext uri="{FF2B5EF4-FFF2-40B4-BE49-F238E27FC236}">
                <a16:creationId xmlns:a16="http://schemas.microsoft.com/office/drawing/2014/main" id="{01C68187-57F8-4C93-851A-E72378F361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1961" y="4748161"/>
            <a:ext cx="456959" cy="849944"/>
          </a:xfrm>
          <a:prstGeom prst="rect">
            <a:avLst/>
          </a:prstGeom>
        </p:spPr>
      </p:pic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71EA737-81E8-4054-AF7B-42437B95A78E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798920" y="4657993"/>
            <a:ext cx="1337046" cy="515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A5F79AE-1C38-832F-E5DD-B4760D4359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236" y="4457120"/>
            <a:ext cx="966024" cy="996937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2A02642B-2C34-D0B7-FF8E-26480E63E1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788" y="5709682"/>
            <a:ext cx="1589755" cy="43608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78409E6-C2D3-D24C-027E-FD3A82EC9D0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2" y="6145768"/>
            <a:ext cx="1072905" cy="602973"/>
          </a:xfrm>
          <a:prstGeom prst="rect">
            <a:avLst/>
          </a:prstGeom>
        </p:spPr>
      </p:pic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6A6012E-3A77-D27C-CD21-494098B2D7B9}"/>
              </a:ext>
            </a:extLst>
          </p:cNvPr>
          <p:cNvCxnSpPr>
            <a:cxnSpLocks/>
          </p:cNvCxnSpPr>
          <p:nvPr/>
        </p:nvCxnSpPr>
        <p:spPr>
          <a:xfrm flipV="1">
            <a:off x="1439641" y="6009000"/>
            <a:ext cx="696325" cy="423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64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6. </a:t>
            </a:r>
            <a:r>
              <a:rPr lang="ko-KR" altLang="en-US" dirty="0"/>
              <a:t>제작 계획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E7BC1D5-CF1F-4B2A-AA2A-1348F03F8885}"/>
              </a:ext>
            </a:extLst>
          </p:cNvPr>
          <p:cNvSpPr/>
          <p:nvPr/>
        </p:nvSpPr>
        <p:spPr>
          <a:xfrm>
            <a:off x="877077" y="1511559"/>
            <a:ext cx="1735494" cy="44787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43137C9-39B1-4C41-B50B-4B24C6F4E156}"/>
              </a:ext>
            </a:extLst>
          </p:cNvPr>
          <p:cNvSpPr/>
          <p:nvPr/>
        </p:nvSpPr>
        <p:spPr>
          <a:xfrm>
            <a:off x="877077" y="3287486"/>
            <a:ext cx="1735494" cy="44787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개발 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ED72DF-47F6-4541-A493-E2D1B85AD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233" y="1218766"/>
            <a:ext cx="717687" cy="943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1227CD5-6A07-43E5-AAE5-A9A487548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652" y="1218766"/>
            <a:ext cx="717687" cy="9431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AD9F91-07D2-4701-85EB-E319BDEEE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672" y="1218766"/>
            <a:ext cx="717687" cy="9431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D55B449-9E6E-4349-B08F-DEDB8B9BE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536" y="1218766"/>
            <a:ext cx="717687" cy="943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BDA3B8-5472-43FA-A7C8-061C5C98A39C}"/>
              </a:ext>
            </a:extLst>
          </p:cNvPr>
          <p:cNvSpPr txBox="1"/>
          <p:nvPr/>
        </p:nvSpPr>
        <p:spPr>
          <a:xfrm>
            <a:off x="3274098" y="2369019"/>
            <a:ext cx="1301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웹 디자이너 </a:t>
            </a:r>
            <a:r>
              <a:rPr lang="en-US" altLang="ko-KR" sz="1200" dirty="0"/>
              <a:t>1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신승철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70016C-BC0F-4EAF-BC2E-38474B75CAE9}"/>
              </a:ext>
            </a:extLst>
          </p:cNvPr>
          <p:cNvSpPr txBox="1"/>
          <p:nvPr/>
        </p:nvSpPr>
        <p:spPr>
          <a:xfrm>
            <a:off x="5127517" y="2388159"/>
            <a:ext cx="1301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웹 퍼블리셔 </a:t>
            </a:r>
            <a:r>
              <a:rPr lang="en-US" altLang="ko-KR" sz="1200" dirty="0"/>
              <a:t>1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신승철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5664B-E013-4646-9B0F-2BB1911881B2}"/>
              </a:ext>
            </a:extLst>
          </p:cNvPr>
          <p:cNvSpPr txBox="1"/>
          <p:nvPr/>
        </p:nvSpPr>
        <p:spPr>
          <a:xfrm>
            <a:off x="6767540" y="2388159"/>
            <a:ext cx="1605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웹 개발자</a:t>
            </a:r>
            <a:r>
              <a:rPr lang="en-US" altLang="ko-KR" sz="1200" dirty="0"/>
              <a:t>(Front)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신승철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068BF-85F4-48E1-8007-D235C4450764}"/>
              </a:ext>
            </a:extLst>
          </p:cNvPr>
          <p:cNvSpPr txBox="1"/>
          <p:nvPr/>
        </p:nvSpPr>
        <p:spPr>
          <a:xfrm>
            <a:off x="8711557" y="2396533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웹 개발자</a:t>
            </a:r>
            <a:r>
              <a:rPr lang="en-US" altLang="ko-KR" sz="1200" dirty="0"/>
              <a:t>(Back)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신승철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5392226C-2231-4727-963D-49F313883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2590"/>
              </p:ext>
            </p:extLst>
          </p:nvPr>
        </p:nvGraphicFramePr>
        <p:xfrm>
          <a:off x="2651832" y="3855608"/>
          <a:ext cx="8312001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1409">
                  <a:extLst>
                    <a:ext uri="{9D8B030D-6E8A-4147-A177-3AD203B41FA5}">
                      <a16:colId xmlns:a16="http://schemas.microsoft.com/office/drawing/2014/main" val="2929062793"/>
                    </a:ext>
                  </a:extLst>
                </a:gridCol>
                <a:gridCol w="1515148">
                  <a:extLst>
                    <a:ext uri="{9D8B030D-6E8A-4147-A177-3AD203B41FA5}">
                      <a16:colId xmlns:a16="http://schemas.microsoft.com/office/drawing/2014/main" val="1236734441"/>
                    </a:ext>
                  </a:extLst>
                </a:gridCol>
                <a:gridCol w="1515148">
                  <a:extLst>
                    <a:ext uri="{9D8B030D-6E8A-4147-A177-3AD203B41FA5}">
                      <a16:colId xmlns:a16="http://schemas.microsoft.com/office/drawing/2014/main" val="2569474562"/>
                    </a:ext>
                  </a:extLst>
                </a:gridCol>
                <a:gridCol w="1515148">
                  <a:extLst>
                    <a:ext uri="{9D8B030D-6E8A-4147-A177-3AD203B41FA5}">
                      <a16:colId xmlns:a16="http://schemas.microsoft.com/office/drawing/2014/main" val="4011005186"/>
                    </a:ext>
                  </a:extLst>
                </a:gridCol>
                <a:gridCol w="1515148">
                  <a:extLst>
                    <a:ext uri="{9D8B030D-6E8A-4147-A177-3AD203B41FA5}">
                      <a16:colId xmlns:a16="http://schemas.microsoft.com/office/drawing/2014/main" val="143398173"/>
                    </a:ext>
                  </a:extLst>
                </a:gridCol>
              </a:tblGrid>
              <a:tr h="34061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54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프로젝트 정의서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76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디자인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63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퍼블리싱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9306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36518"/>
                  </a:ext>
                </a:extLst>
              </a:tr>
              <a:tr h="1974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및 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55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22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8A15-B6ED-4584-A6DF-73FDF471045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7. </a:t>
            </a:r>
            <a:r>
              <a:rPr lang="ko-KR" altLang="en-US" dirty="0"/>
              <a:t>디자인 계획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E7BC1D5-CF1F-4B2A-AA2A-1348F03F8885}"/>
              </a:ext>
            </a:extLst>
          </p:cNvPr>
          <p:cNvSpPr/>
          <p:nvPr/>
        </p:nvSpPr>
        <p:spPr>
          <a:xfrm>
            <a:off x="6096000" y="1138335"/>
            <a:ext cx="1735494" cy="44787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콘셉트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20B1D-3601-46B8-9D66-0058A0BFA771}"/>
              </a:ext>
            </a:extLst>
          </p:cNvPr>
          <p:cNvSpPr txBox="1"/>
          <p:nvPr/>
        </p:nvSpPr>
        <p:spPr>
          <a:xfrm>
            <a:off x="6096000" y="1875453"/>
            <a:ext cx="5431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예약 서비스에 걸맞는 깔끔한 디자인 준수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파스텔 톤으로 최신 웹 페이지 디자인 경향 반영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필요한 이미지는 </a:t>
            </a:r>
            <a:r>
              <a:rPr lang="en-US" altLang="ko-KR" dirty="0" err="1"/>
              <a:t>pixabay</a:t>
            </a:r>
            <a:r>
              <a:rPr lang="ko-KR" altLang="en-US" dirty="0"/>
              <a:t>에서 참조 및 사용</a:t>
            </a:r>
            <a:endParaRPr lang="en-US" altLang="ko-KR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C330EA6-92BE-4CDE-A1D6-032A72EA8235}"/>
              </a:ext>
            </a:extLst>
          </p:cNvPr>
          <p:cNvSpPr/>
          <p:nvPr/>
        </p:nvSpPr>
        <p:spPr>
          <a:xfrm>
            <a:off x="6096000" y="3205065"/>
            <a:ext cx="1735494" cy="44787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150" dirty="0"/>
              <a:t>주요 사용 색상</a:t>
            </a:r>
            <a:endParaRPr lang="en-US" altLang="ko-KR" spc="-1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B11FB-740D-3ACE-1279-96CDDA4A228D}"/>
              </a:ext>
            </a:extLst>
          </p:cNvPr>
          <p:cNvSpPr txBox="1"/>
          <p:nvPr/>
        </p:nvSpPr>
        <p:spPr>
          <a:xfrm>
            <a:off x="6095999" y="5512208"/>
            <a:ext cx="5945715" cy="276999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hlinkClick r:id="rId2"/>
              </a:rPr>
              <a:t>피그마</a:t>
            </a:r>
            <a:r>
              <a:rPr lang="en-US" altLang="ko-KR" sz="1200" b="1" dirty="0">
                <a:solidFill>
                  <a:schemeClr val="accent1"/>
                </a:solidFill>
                <a:hlinkClick r:id="rId2"/>
              </a:rPr>
              <a:t>(Figma) </a:t>
            </a:r>
            <a:r>
              <a:rPr lang="ko-KR" altLang="en-US" sz="1200" b="1" dirty="0">
                <a:solidFill>
                  <a:schemeClr val="accent1"/>
                </a:solidFill>
                <a:hlinkClick r:id="rId2"/>
              </a:rPr>
              <a:t>디자인 사이트</a:t>
            </a:r>
            <a:endParaRPr lang="ko-KR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8B60A-994E-2023-AEF8-23153CF50774}"/>
              </a:ext>
            </a:extLst>
          </p:cNvPr>
          <p:cNvSpPr txBox="1"/>
          <p:nvPr/>
        </p:nvSpPr>
        <p:spPr>
          <a:xfrm>
            <a:off x="6095999" y="3993199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#FAF0E6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#6495ED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#ead9c5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BB12C6-DD2F-4008-E714-342B3D6FC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7" y="1179474"/>
            <a:ext cx="5307808" cy="49469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FA117E-CAA5-3EED-A0ED-4F2A9C620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796" y="3999864"/>
            <a:ext cx="162893" cy="26206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3C2E2CF-CE54-EB91-B8FF-798C4353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796" y="4294598"/>
            <a:ext cx="163014" cy="27699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3E05F81-60CB-B62B-8250-60BEA9CD4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699" y="4621368"/>
            <a:ext cx="164990" cy="2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4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9FDC-EEBF-0590-9DFE-BC91AFBE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E1A39C0-AECF-7215-A05F-5392147F8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4725"/>
            <a:ext cx="8365066" cy="61732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AF9DD91-082E-39A5-589B-040A86BDF847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260884D-2F41-470C-5945-856BE55B8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32301"/>
              </p:ext>
            </p:extLst>
          </p:nvPr>
        </p:nvGraphicFramePr>
        <p:xfrm>
          <a:off x="8365066" y="681036"/>
          <a:ext cx="3826934" cy="617573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9614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부분은 헤더로 모든 웹페이지의 상단에 있다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웹 사이트 버튼을 누르면 항상 홈으로 이동한다</a:t>
                      </a:r>
                      <a:r>
                        <a:rPr lang="en-US" altLang="ko-KR" sz="1050" b="0" dirty="0"/>
                        <a:t>.</a:t>
                      </a:r>
                      <a:r>
                        <a:rPr lang="ko-KR" altLang="en-US" sz="1050" b="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10046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해당 부분은 순서대로 관리자 로그인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사이드바 메뉴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관리 페이지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일일 강아지 산책 기록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예약확인</a:t>
                      </a:r>
                      <a:r>
                        <a:rPr lang="en-US" altLang="ko-KR" sz="100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서비스 요금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dirty="0" err="1"/>
                        <a:t>QnA</a:t>
                      </a:r>
                      <a:r>
                        <a:rPr lang="ko-KR" altLang="en-US" sz="1000" dirty="0"/>
                        <a:t>로 되어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 각각 메뉴를 클릭하면 해당 페이지로 이동을 한다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12079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부분은 예약 정보를 입력하는 곳으로 각각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4 </a:t>
                      </a:r>
                      <a:r>
                        <a:rPr lang="ko-KR" altLang="en-US" sz="1050" dirty="0"/>
                        <a:t>페이지로 이루어지며 해당 정보를 각각 입력하면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예약이 완료되며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해당 정보는 관리자 또는 사용자가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삭제를 할 수 있다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잘못된 정보를 입력해도 관리자가 삭제할 수 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1050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관리 페이지는 로그인한 관리자만 입장 할 수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있으며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일반사용자나 로그인 하지 않은 관리자는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 해당 페이지에 입장 할 수 없다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관리 페이지에서 사용자 예약 상태를 확인 할 수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있으며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관리를 할 수 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0028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해당 부분은 </a:t>
                      </a:r>
                      <a:r>
                        <a:rPr lang="en-US" altLang="ko-KR" sz="1000" dirty="0"/>
                        <a:t>Footer </a:t>
                      </a:r>
                      <a:r>
                        <a:rPr lang="ko-KR" altLang="en-US" sz="1000" dirty="0"/>
                        <a:t>부분이며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모든 페이지 </a:t>
                      </a:r>
                      <a:r>
                        <a:rPr lang="ko-KR" altLang="en-US" sz="1000" dirty="0" err="1"/>
                        <a:t>푸터는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동일 시 한다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   </a:t>
                      </a:r>
                      <a:r>
                        <a:rPr lang="ko-KR" altLang="en-US" sz="1000" dirty="0"/>
                        <a:t>색상은 </a:t>
                      </a:r>
                      <a:r>
                        <a:rPr lang="ko-KR" altLang="en-US" sz="1000" dirty="0" err="1"/>
                        <a:t>곤청색을</a:t>
                      </a:r>
                      <a:r>
                        <a:rPr lang="ko-KR" altLang="en-US" sz="1000" dirty="0"/>
                        <a:t> 유지한다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946105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6.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메뉴 버튼을 클릭하면 왼쪽에서 사이드바가 열린다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사용자와 관리자가 공통으로 사용할 수 있는 </a:t>
                      </a:r>
                      <a:endParaRPr lang="en-US" altLang="ko-KR" sz="105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메뉴가 나열되어 있다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  관리자가 로그인 했을 때 정보가 변경된다</a:t>
                      </a:r>
                      <a:r>
                        <a:rPr lang="en-US" altLang="ko-KR" sz="1050" dirty="0"/>
                        <a:t>.</a:t>
                      </a:r>
                      <a:r>
                        <a:rPr lang="ko-KR" altLang="en-US" sz="1050" dirty="0"/>
                        <a:t>    </a:t>
                      </a:r>
                      <a:endParaRPr lang="en-US" altLang="ko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3192F77D-6200-E92C-6BF7-73FF5E007C81}"/>
              </a:ext>
            </a:extLst>
          </p:cNvPr>
          <p:cNvSpPr/>
          <p:nvPr/>
        </p:nvSpPr>
        <p:spPr>
          <a:xfrm>
            <a:off x="1519971" y="922916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811DBF0-5007-833E-4676-CEF5025FD539}"/>
              </a:ext>
            </a:extLst>
          </p:cNvPr>
          <p:cNvSpPr/>
          <p:nvPr/>
        </p:nvSpPr>
        <p:spPr>
          <a:xfrm>
            <a:off x="4597805" y="745832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B8B8E48-ABD0-1014-5E7D-4EAE3B79FFD2}"/>
              </a:ext>
            </a:extLst>
          </p:cNvPr>
          <p:cNvSpPr/>
          <p:nvPr/>
        </p:nvSpPr>
        <p:spPr>
          <a:xfrm>
            <a:off x="6286703" y="116733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44E520C-53F4-D017-C35D-5D97E3CFFA94}"/>
              </a:ext>
            </a:extLst>
          </p:cNvPr>
          <p:cNvSpPr/>
          <p:nvPr/>
        </p:nvSpPr>
        <p:spPr>
          <a:xfrm>
            <a:off x="5905298" y="922917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C5E04A-FA82-D51A-8092-DD3FFD0FCCC5}"/>
              </a:ext>
            </a:extLst>
          </p:cNvPr>
          <p:cNvSpPr/>
          <p:nvPr/>
        </p:nvSpPr>
        <p:spPr>
          <a:xfrm>
            <a:off x="7610947" y="6059412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54B196A-8E24-6B84-5FA1-6FC2B9464D1C}"/>
              </a:ext>
            </a:extLst>
          </p:cNvPr>
          <p:cNvSpPr/>
          <p:nvPr/>
        </p:nvSpPr>
        <p:spPr>
          <a:xfrm>
            <a:off x="718672" y="1362071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39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2563-C849-A4AD-3900-ECF8B609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E50723-0B66-3102-B6D8-FC21C5833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C42B0D4-F71F-81F5-B551-E43F17FE5AC5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B285EAE-688C-1998-4EAF-6844870B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2312"/>
              </p:ext>
            </p:extLst>
          </p:nvPr>
        </p:nvGraphicFramePr>
        <p:xfrm>
          <a:off x="8365066" y="681035"/>
          <a:ext cx="3826934" cy="617696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9625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부분은 관리자 로그인 부분으로 사용자를 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제외한 인증된 관리자만 로그인 할 수 있다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-   </a:t>
                      </a:r>
                      <a:r>
                        <a:rPr lang="ko-KR" altLang="en-US" sz="1050" b="0" dirty="0"/>
                        <a:t>로그인 시 홈페이지 메인으로 이동을 한다</a:t>
                      </a:r>
                      <a:r>
                        <a:rPr lang="en-US" altLang="ko-KR" sz="1050" b="0" dirty="0"/>
                        <a:t>.</a:t>
                      </a:r>
                      <a:endParaRPr lang="en-US" altLang="ko-KR" sz="1200" b="0" dirty="0"/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10040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로그인 시 인증된 이메일과 패스워드를 입력하는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폼이다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1209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각각 </a:t>
                      </a:r>
                      <a:r>
                        <a:rPr lang="en-US" altLang="ko-KR" sz="1050" dirty="0"/>
                        <a:t>2</a:t>
                      </a:r>
                      <a:r>
                        <a:rPr lang="ko-KR" altLang="en-US" sz="1050" dirty="0"/>
                        <a:t>개의 버튼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로그인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관리자 회원가입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로그인 버튼을 클릭하면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로그인이 시도된다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관리자 회원가입 버튼을 누르면 회원가입 폼으로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이동한다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1049675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004037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9472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143939A9-1E54-F4DA-6DAF-4E28303A8D63}"/>
              </a:ext>
            </a:extLst>
          </p:cNvPr>
          <p:cNvSpPr/>
          <p:nvPr/>
        </p:nvSpPr>
        <p:spPr>
          <a:xfrm>
            <a:off x="4914062" y="1738443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62D8A99-9A9F-5E6D-3DE8-451E454324D8}"/>
              </a:ext>
            </a:extLst>
          </p:cNvPr>
          <p:cNvSpPr/>
          <p:nvPr/>
        </p:nvSpPr>
        <p:spPr>
          <a:xfrm>
            <a:off x="4443710" y="2893467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FE9ACE9-79DB-36F1-9FF5-F7ECFA1352DD}"/>
              </a:ext>
            </a:extLst>
          </p:cNvPr>
          <p:cNvSpPr/>
          <p:nvPr/>
        </p:nvSpPr>
        <p:spPr>
          <a:xfrm>
            <a:off x="4916958" y="4730091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533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FCFC-CC1D-F68A-9BEE-E97BE7AA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D2BD09-4F57-5D88-F766-6DC96AA7D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E775ED9-CF57-1282-C7F3-BC10FFF819F8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9C56D8A-2488-6188-F959-70153F056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1681"/>
              </p:ext>
            </p:extLst>
          </p:nvPr>
        </p:nvGraphicFramePr>
        <p:xfrm>
          <a:off x="8365066" y="681035"/>
          <a:ext cx="3826934" cy="619062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242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부분은 관리자 회원가입 창으로 해당 부분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각각 </a:t>
                      </a:r>
                      <a:r>
                        <a:rPr lang="en-US" altLang="ko-KR" sz="1050" b="0" dirty="0"/>
                        <a:t>(</a:t>
                      </a:r>
                      <a:r>
                        <a:rPr lang="ko-KR" altLang="en-US" sz="1050" b="0" dirty="0"/>
                        <a:t>이름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이메일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패스워드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관리자 코드</a:t>
                      </a:r>
                      <a:r>
                        <a:rPr lang="en-US" altLang="ko-KR" sz="1050" b="0" dirty="0"/>
                        <a:t>)</a:t>
                      </a:r>
                      <a:r>
                        <a:rPr lang="ko-KR" altLang="en-US" sz="1050" b="0" dirty="0"/>
                        <a:t>를 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입력하면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회원가입이 완료 된다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- </a:t>
                      </a:r>
                      <a:r>
                        <a:rPr lang="ko-KR" altLang="en-US" sz="1050" b="0" dirty="0"/>
                        <a:t>아무나 회원가입 하지 못하도록 관리자 코드를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</a:t>
                      </a:r>
                      <a:r>
                        <a:rPr lang="ko-KR" altLang="en-US" sz="1050" b="0" dirty="0"/>
                        <a:t>입력하게 제작한다</a:t>
                      </a:r>
                      <a:r>
                        <a:rPr lang="en-US" altLang="ko-KR" sz="1050" b="0" dirty="0"/>
                        <a:t>.</a:t>
                      </a:r>
                      <a:endParaRPr lang="en-US" altLang="ko-KR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9366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로그인 시 이름과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이메일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패스워드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관리자 코드를 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dirty="0"/>
                        <a:t>    입력하는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폼이다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  </a:t>
                      </a:r>
                      <a:r>
                        <a:rPr lang="ko-KR" altLang="en-US" sz="1000" dirty="0"/>
                        <a:t>추후 관리자 코드는 랜덤 코드로 변경되도록 한다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11979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각각 </a:t>
                      </a:r>
                      <a:r>
                        <a:rPr lang="en-US" altLang="ko-KR" sz="1050" dirty="0"/>
                        <a:t>2</a:t>
                      </a:r>
                      <a:r>
                        <a:rPr lang="ko-KR" altLang="en-US" sz="1050" dirty="0"/>
                        <a:t>개의 버튼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회원가입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로그인 화면으로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회원가입 버튼을 클릭하면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회원가입이 시도된다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로그인 화면으로 버튼을 누르면 로그인 폼으로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이동한다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979278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93669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88370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1F89EB6B-FAEF-059C-7BF1-2819E6728341}"/>
              </a:ext>
            </a:extLst>
          </p:cNvPr>
          <p:cNvSpPr/>
          <p:nvPr/>
        </p:nvSpPr>
        <p:spPr>
          <a:xfrm>
            <a:off x="3034733" y="1262693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D51529C-2F4E-4FF3-A9F6-71C360B0A87D}"/>
              </a:ext>
            </a:extLst>
          </p:cNvPr>
          <p:cNvSpPr/>
          <p:nvPr/>
        </p:nvSpPr>
        <p:spPr>
          <a:xfrm>
            <a:off x="4947793" y="2424812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B5B2092-ECE3-B62F-8869-4C8632A61D32}"/>
              </a:ext>
            </a:extLst>
          </p:cNvPr>
          <p:cNvSpPr/>
          <p:nvPr/>
        </p:nvSpPr>
        <p:spPr>
          <a:xfrm>
            <a:off x="4947793" y="5582835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45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9EA8-3905-149E-6B44-39510DF3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A733B17-3B47-52F3-8F85-1E6C7D21B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81035"/>
            <a:ext cx="8365065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69088DF-89BE-34DA-67D5-59D155609FC2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C014D37-5BFE-28EE-8035-063948F24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427555"/>
              </p:ext>
            </p:extLst>
          </p:nvPr>
        </p:nvGraphicFramePr>
        <p:xfrm>
          <a:off x="8365066" y="681036"/>
          <a:ext cx="3826934" cy="617696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477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페이지는 관리자 대시보드 페이지로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사용자가 예약한 내역 등을 관리할 수 있다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각각 오늘예약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기간 만료 예약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이벤트 신청 회원</a:t>
                      </a:r>
                      <a:r>
                        <a:rPr lang="en-US" altLang="ko-KR" sz="1050" b="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en-US" altLang="ko-KR" sz="1050" b="0" dirty="0" err="1"/>
                        <a:t>QnA</a:t>
                      </a:r>
                      <a:r>
                        <a:rPr lang="en-US" altLang="ko-KR" sz="1050" b="0" dirty="0"/>
                        <a:t> </a:t>
                      </a:r>
                      <a:r>
                        <a:rPr lang="ko-KR" altLang="en-US" sz="1050" b="0" dirty="0"/>
                        <a:t>내역을 볼 수 있다</a:t>
                      </a:r>
                      <a:r>
                        <a:rPr lang="en-US" altLang="ko-KR" sz="1050" b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7487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각각 오늘예약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기간 만료 예약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이벤트 신청 회원</a:t>
                      </a:r>
                      <a:r>
                        <a:rPr lang="en-US" altLang="ko-KR" sz="100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en-US" altLang="ko-KR" sz="1000" dirty="0" err="1"/>
                        <a:t>QnA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목록으로 구성되어 있으며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건수 별로 해당 내역을 살펴볼 수 있다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9208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 내역 별로 신청한 내용이 보여지며</a:t>
                      </a:r>
                      <a:r>
                        <a:rPr lang="en-US" altLang="ko-KR" sz="105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해당 목록으로는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해당 신청 번호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예약자</a:t>
                      </a:r>
                      <a:r>
                        <a:rPr lang="en-US" altLang="ko-KR" sz="105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강아지 종류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시간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상태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작성 버튼으로 이루어진다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해당 내역은 일일 별로 관리가 된다</a:t>
                      </a:r>
                      <a:r>
                        <a:rPr lang="en-US" altLang="ko-KR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88302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상태 내역은 승인과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대기로 나누어지며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관리자가 해당 내용을 확인 후 이벤트 승인을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할 때 해당 상태내역을 변경한다면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사용자는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예약 내역을 변경할 수 없게 되고 예약이 확정된다</a:t>
                      </a:r>
                      <a:r>
                        <a:rPr lang="en-US" altLang="ko-KR" sz="1050" dirty="0"/>
                        <a:t>.</a:t>
                      </a:r>
                      <a:r>
                        <a:rPr lang="ko-KR" altLang="en-US" sz="1050" dirty="0"/>
                        <a:t> </a:t>
                      </a:r>
                      <a:endParaRPr lang="en-US" altLang="ko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50222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 </a:t>
                      </a:r>
                      <a:r>
                        <a:rPr lang="ko-KR" altLang="en-US" sz="1050" dirty="0"/>
                        <a:t>해당 기능은 작성 버튼으로 해당 버튼을 클릭 시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산책한 결과 내역을 작성하는 페이지로 이동을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할 수 있다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 버튼은 예약 내역 별로 생성되며 결과 내역을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각각 작성 할 수 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321065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885DF0DE-8FDA-1681-8E56-ABF18A80ECB0}"/>
              </a:ext>
            </a:extLst>
          </p:cNvPr>
          <p:cNvSpPr/>
          <p:nvPr/>
        </p:nvSpPr>
        <p:spPr>
          <a:xfrm>
            <a:off x="595789" y="1228926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3A261DA-65F6-DD72-1A19-8B3F360CE34E}"/>
              </a:ext>
            </a:extLst>
          </p:cNvPr>
          <p:cNvSpPr/>
          <p:nvPr/>
        </p:nvSpPr>
        <p:spPr>
          <a:xfrm>
            <a:off x="3987801" y="1286792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4635239-E657-7269-A923-4B9C04269A99}"/>
              </a:ext>
            </a:extLst>
          </p:cNvPr>
          <p:cNvSpPr/>
          <p:nvPr/>
        </p:nvSpPr>
        <p:spPr>
          <a:xfrm>
            <a:off x="5183139" y="3550532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A360502-A07C-1860-9867-59A602E66B0C}"/>
              </a:ext>
            </a:extLst>
          </p:cNvPr>
          <p:cNvSpPr/>
          <p:nvPr/>
        </p:nvSpPr>
        <p:spPr>
          <a:xfrm>
            <a:off x="6426200" y="3161064"/>
            <a:ext cx="389466" cy="38946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9B357C7-0D28-30E2-36B5-4D78C381655F}"/>
              </a:ext>
            </a:extLst>
          </p:cNvPr>
          <p:cNvSpPr/>
          <p:nvPr/>
        </p:nvSpPr>
        <p:spPr>
          <a:xfrm>
            <a:off x="6774103" y="2482195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492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2AEA-985D-C2DC-993E-5CC9D5B5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355A312-1261-EF56-5BC9-951EAB00E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7484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A909018-AA2F-202C-96F8-5A7DA653F84D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B1D5B59-402A-99FB-3513-29180FE75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428981"/>
              </p:ext>
            </p:extLst>
          </p:nvPr>
        </p:nvGraphicFramePr>
        <p:xfrm>
          <a:off x="8365066" y="681035"/>
          <a:ext cx="3826934" cy="61790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494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기능은 관리자가 산책 기록 내역을 작성하도록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하는 페이지이며</a:t>
                      </a:r>
                      <a:r>
                        <a:rPr lang="en-US" altLang="ko-KR" sz="1050" b="0" dirty="0"/>
                        <a:t>, DB</a:t>
                      </a:r>
                      <a:r>
                        <a:rPr lang="ko-KR" altLang="en-US" sz="1050" b="0" dirty="0"/>
                        <a:t>에서 각 사용자 기능을 불러와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해당 예약의 최종 결과를 입력하도록 도와주는 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페이지이다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- </a:t>
                      </a:r>
                      <a:r>
                        <a:rPr lang="ko-KR" altLang="en-US" sz="1050" b="0" dirty="0"/>
                        <a:t>  각 사진 업로드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산책 기록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태그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상태 체크</a:t>
                      </a:r>
                      <a:endParaRPr lang="en-US" altLang="ko-KR" sz="10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752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해당 기능은 </a:t>
                      </a:r>
                      <a:r>
                        <a:rPr lang="en-US" altLang="ko-KR" sz="1000" dirty="0"/>
                        <a:t>DB</a:t>
                      </a:r>
                      <a:r>
                        <a:rPr lang="ko-KR" altLang="en-US" sz="1000" dirty="0"/>
                        <a:t>에서 강아지 예약 정보를 가져와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표시해 주는 기능이다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 각 강아지 이름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종류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거리 등을 표시해준다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9061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기능은 사진 업로드와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산책기록을 작성하는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기능 으로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해당 산책 때 찍은 강아지 사진과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산책 기록을 입력할 수 있다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 사진은 </a:t>
                      </a:r>
                      <a:r>
                        <a:rPr lang="en-US" altLang="ko-KR" sz="1050" dirty="0"/>
                        <a:t>1</a:t>
                      </a:r>
                      <a:r>
                        <a:rPr lang="ko-KR" altLang="en-US" sz="1050" dirty="0"/>
                        <a:t>개만 업로드 가능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인스타 형식으로 출력</a:t>
                      </a:r>
                      <a:endParaRPr lang="en-US" altLang="ko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89745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인스타 그램처럼 태그를 입력할 수 있는 기능으로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해당 산책 때 발생했던 내역을 태그 내역으로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관리할 수 있다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해당 내역별 내용이 </a:t>
                      </a:r>
                      <a:r>
                        <a:rPr lang="en-US" altLang="ko-KR" sz="1050" dirty="0"/>
                        <a:t>DB</a:t>
                      </a:r>
                      <a:r>
                        <a:rPr lang="ko-KR" altLang="en-US" sz="1050" dirty="0"/>
                        <a:t>에 저장된다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5611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그날 발생했던 강아지 상태를 체크할 수 있는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기능이다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 </a:t>
                      </a:r>
                      <a:r>
                        <a:rPr lang="en-US" altLang="ko-KR" sz="1050" dirty="0"/>
                        <a:t>POOP, CONDITION, BEHAVIOR, TRAINING,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ISSUE</a:t>
                      </a:r>
                      <a:r>
                        <a:rPr lang="ko-KR" altLang="en-US" sz="1050" dirty="0"/>
                        <a:t>등으로 구성되어 있으며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중 </a:t>
                      </a:r>
                      <a:r>
                        <a:rPr lang="en-US" altLang="ko-KR" sz="1050" dirty="0"/>
                        <a:t>1</a:t>
                      </a:r>
                      <a:r>
                        <a:rPr lang="ko-KR" altLang="en-US" sz="1050" dirty="0"/>
                        <a:t>개씩 선택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할 수 있다</a:t>
                      </a:r>
                      <a:r>
                        <a:rPr lang="en-US" altLang="ko-KR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323211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마지막 기능은 해당 저장 버튼을 클릭하면 해당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내역이 데이터베이스에 저장되며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일일 강아지 산책 기록에서 확인을 할 수 있게 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 </a:t>
                      </a:r>
                      <a:r>
                        <a:rPr lang="ko-KR" altLang="en-US" sz="1050" dirty="0"/>
                        <a:t>버튼 색깔은 파란 계열로 통일한다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FEC7C4D5-2DCF-7029-97F7-F961A22C4FE3}"/>
              </a:ext>
            </a:extLst>
          </p:cNvPr>
          <p:cNvSpPr/>
          <p:nvPr/>
        </p:nvSpPr>
        <p:spPr>
          <a:xfrm>
            <a:off x="2478107" y="1061267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2AFA12F-143A-E7E9-A0C5-6FF9F4E637D8}"/>
              </a:ext>
            </a:extLst>
          </p:cNvPr>
          <p:cNvSpPr/>
          <p:nvPr/>
        </p:nvSpPr>
        <p:spPr>
          <a:xfrm>
            <a:off x="5270568" y="1434314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0C97CAB-234E-A98B-E121-C424C641699B}"/>
              </a:ext>
            </a:extLst>
          </p:cNvPr>
          <p:cNvSpPr/>
          <p:nvPr/>
        </p:nvSpPr>
        <p:spPr>
          <a:xfrm>
            <a:off x="4715978" y="3039533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193E132-4F3C-53B7-9DCC-154B45BAE826}"/>
              </a:ext>
            </a:extLst>
          </p:cNvPr>
          <p:cNvSpPr/>
          <p:nvPr/>
        </p:nvSpPr>
        <p:spPr>
          <a:xfrm>
            <a:off x="5105444" y="3639294"/>
            <a:ext cx="389466" cy="38946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FC09B58-DBD9-0741-7CE5-55AB876CADC5}"/>
              </a:ext>
            </a:extLst>
          </p:cNvPr>
          <p:cNvSpPr/>
          <p:nvPr/>
        </p:nvSpPr>
        <p:spPr>
          <a:xfrm>
            <a:off x="5105444" y="5034219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3E42097-4389-495D-C686-E64B46B1BF5B}"/>
              </a:ext>
            </a:extLst>
          </p:cNvPr>
          <p:cNvSpPr/>
          <p:nvPr/>
        </p:nvSpPr>
        <p:spPr>
          <a:xfrm>
            <a:off x="4326512" y="224503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4FE1D25-4A6A-78B2-3DA0-A4ECE3E8E74D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4321892" y="2077433"/>
            <a:ext cx="199353" cy="167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8B261DA-DAB3-01A5-86FC-981E669A9CF7}"/>
              </a:ext>
            </a:extLst>
          </p:cNvPr>
          <p:cNvCxnSpPr>
            <a:stCxn id="9" idx="4"/>
          </p:cNvCxnSpPr>
          <p:nvPr/>
        </p:nvCxnSpPr>
        <p:spPr>
          <a:xfrm flipH="1">
            <a:off x="4321892" y="2634505"/>
            <a:ext cx="199353" cy="8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36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1F362-7F7B-D424-74D8-DF9A27D6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3FBD32-47EA-61AB-84D2-F8C498AC4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4411"/>
            <a:ext cx="836506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D98A21-B235-C803-AC12-C6C1D2386402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68280C4-4CD3-B608-3807-6871477C9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852631"/>
              </p:ext>
            </p:extLst>
          </p:nvPr>
        </p:nvGraphicFramePr>
        <p:xfrm>
          <a:off x="8365066" y="681035"/>
          <a:ext cx="3826934" cy="618963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275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기능은 해당 일일 별로 산책이 완료된 강아지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들의 산책 결과 내역을 볼 수 있는 페이지이다</a:t>
                      </a:r>
                      <a:r>
                        <a:rPr lang="en-US" altLang="ko-KR" sz="1050" b="0" dirty="0"/>
                        <a:t>.</a:t>
                      </a:r>
                      <a:r>
                        <a:rPr lang="ko-KR" altLang="en-US" sz="1050" b="0" dirty="0"/>
                        <a:t> 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날짜 별로 해당 내역들이 정리되며 크게 이미지</a:t>
                      </a:r>
                      <a:r>
                        <a:rPr lang="en-US" altLang="ko-KR" sz="1050" b="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내용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당일 날짜의 강아지 산택 등이 도출되게 된다</a:t>
                      </a:r>
                      <a:r>
                        <a:rPr lang="en-US" altLang="ko-KR" sz="1050" b="0" dirty="0"/>
                        <a:t>.</a:t>
                      </a:r>
                      <a:r>
                        <a:rPr lang="ko-KR" altLang="en-US" sz="1050" b="0" dirty="0"/>
                        <a:t> </a:t>
                      </a:r>
                      <a:endParaRPr lang="en-US" altLang="ko-KR" sz="10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8493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해당 기능은 날짜 선택 기능으로 해당 칸을 선택하면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달력 </a:t>
                      </a:r>
                      <a:r>
                        <a:rPr lang="en-US" altLang="ko-KR" sz="1000" dirty="0"/>
                        <a:t>UI</a:t>
                      </a:r>
                      <a:r>
                        <a:rPr lang="ko-KR" altLang="en-US" sz="1000" dirty="0"/>
                        <a:t>가 도출되게 된다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달력 </a:t>
                      </a:r>
                      <a:r>
                        <a:rPr lang="en-US" altLang="ko-KR" sz="1000" dirty="0"/>
                        <a:t>UI</a:t>
                      </a:r>
                      <a:r>
                        <a:rPr lang="ko-KR" altLang="en-US" sz="1000" dirty="0"/>
                        <a:t>의 해당하는 일을 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클릭하면 해당 날짜에 예약된 강아지 산책 결과를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살펴볼 수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8872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이미지는 예약 내역의 강아지 산책 이미지로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예약 내역별로 해당 강아지 사진이 도출되게 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아래에는 강아지 종류와 나이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내용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태그 등이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도출된다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87248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내용은 강아지 산책 당일 트레이너 및 관리자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50" dirty="0"/>
                        <a:t>   가 입력한 내용으로 강아지의 상태들을 도출한다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내역으로는 배변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컨디션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행동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훈련 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특이사항이 대표 내용으로 도출된다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29927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위에 카드 내역이 날짜별로 연속으로 도출되게 되며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해당 내역이 없으면 산책 기록 끝이라는 내용이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표시된다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만약 해당 요일의 내용이 없다면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산책 기록 끝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이라는 표시만 나오게 된다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295623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3B046600-7636-2385-4B8B-68B2865E8A22}"/>
              </a:ext>
            </a:extLst>
          </p:cNvPr>
          <p:cNvSpPr/>
          <p:nvPr/>
        </p:nvSpPr>
        <p:spPr>
          <a:xfrm>
            <a:off x="2129163" y="1069145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3E96AD0-92D9-BE86-B4E4-53C84761FE96}"/>
              </a:ext>
            </a:extLst>
          </p:cNvPr>
          <p:cNvSpPr/>
          <p:nvPr/>
        </p:nvSpPr>
        <p:spPr>
          <a:xfrm>
            <a:off x="4857648" y="912615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351A192-15B8-4640-5BF4-DFF44ED7BE15}"/>
              </a:ext>
            </a:extLst>
          </p:cNvPr>
          <p:cNvSpPr/>
          <p:nvPr/>
        </p:nvSpPr>
        <p:spPr>
          <a:xfrm>
            <a:off x="2611033" y="4220424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011CD6B-BC25-D578-E9ED-63AD2C93552A}"/>
              </a:ext>
            </a:extLst>
          </p:cNvPr>
          <p:cNvSpPr/>
          <p:nvPr/>
        </p:nvSpPr>
        <p:spPr>
          <a:xfrm>
            <a:off x="5135886" y="5263654"/>
            <a:ext cx="389466" cy="38946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3FF8131-43F5-A4EF-8D19-A68E9CE9F6B1}"/>
              </a:ext>
            </a:extLst>
          </p:cNvPr>
          <p:cNvSpPr/>
          <p:nvPr/>
        </p:nvSpPr>
        <p:spPr>
          <a:xfrm>
            <a:off x="5052381" y="1672415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20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A8B-83FE-B142-10A1-56B6214E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320C7CC-FE94-C903-7699-0104C057C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41F458F-8442-6FC1-3EB2-75AA229A2017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4682E7F-55B7-F5C9-A8BE-B3734EDA2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26110"/>
              </p:ext>
            </p:extLst>
          </p:nvPr>
        </p:nvGraphicFramePr>
        <p:xfrm>
          <a:off x="8365066" y="681035"/>
          <a:ext cx="3826934" cy="61769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494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기능은 예약 확인 페이지로 사용자가 예약한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예약 목록을 확인할 수 있다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표시되는 내용은 사용자가 예약할 때 입력한 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 내용으로 표시한다</a:t>
                      </a:r>
                      <a:r>
                        <a:rPr lang="en-US" altLang="ko-KR" sz="1050" b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752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예약 내역 표시 기능으로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각각 이름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날짜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시간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최소 이동거리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이벤트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내역 예약상태가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표시되게 된다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9061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각각 수정하기와 삭제하기 버튼으로 사용자가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해당 버튼을 클릭하면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해당 표시되는 정보를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수정하거나 삭제 할 수 있다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관리자가 승인을 한다면 수정하기 기능은 막힌다</a:t>
                      </a:r>
                      <a:r>
                        <a:rPr lang="en-US" altLang="ko-KR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89745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5611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323211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9527CC2D-F321-FD64-9C26-213C38804325}"/>
              </a:ext>
            </a:extLst>
          </p:cNvPr>
          <p:cNvSpPr/>
          <p:nvPr/>
        </p:nvSpPr>
        <p:spPr>
          <a:xfrm>
            <a:off x="5876863" y="1075201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8DC0867-AB6A-353E-236F-283AE0362AC8}"/>
              </a:ext>
            </a:extLst>
          </p:cNvPr>
          <p:cNvSpPr/>
          <p:nvPr/>
        </p:nvSpPr>
        <p:spPr>
          <a:xfrm>
            <a:off x="3577550" y="1626784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377A8C1-0E72-4118-CC51-BFDE4D4078BC}"/>
              </a:ext>
            </a:extLst>
          </p:cNvPr>
          <p:cNvSpPr/>
          <p:nvPr/>
        </p:nvSpPr>
        <p:spPr>
          <a:xfrm>
            <a:off x="5901267" y="212209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284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0E32-09AF-87AC-A757-6ACE14BC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EAEC66-8492-AF70-D4BA-E3CE8AEF9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DEAFBF5-3F4E-3AFC-69E3-2E1B38A0080D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D37EB7E-14D9-656C-C4EB-EDA9B03BA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89740"/>
              </p:ext>
            </p:extLst>
          </p:nvPr>
        </p:nvGraphicFramePr>
        <p:xfrm>
          <a:off x="8365066" y="681035"/>
          <a:ext cx="3826934" cy="617696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9901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기능은 예약 수정 페이지이다</a:t>
                      </a:r>
                      <a:r>
                        <a:rPr lang="en-US" altLang="ko-KR" sz="1050" b="0" dirty="0"/>
                        <a:t>. 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사용자가 예약한 내용 중 일부를 수정할 수 있으며</a:t>
                      </a:r>
                      <a:r>
                        <a:rPr lang="en-US" altLang="ko-KR" sz="1050" b="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만약 관리자가 해당 내용을 수락한다면</a:t>
                      </a:r>
                      <a:r>
                        <a:rPr lang="en-US" altLang="ko-KR" sz="1050" b="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해당 페이지에는 접근할 수 없게 된다</a:t>
                      </a:r>
                      <a:r>
                        <a:rPr lang="en-US" altLang="ko-KR" sz="1050" b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10145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해당 폼에는 기본적으로 사용자가 입력했던 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 </a:t>
                      </a:r>
                      <a:r>
                        <a:rPr lang="ko-KR" altLang="en-US" sz="1000" dirty="0"/>
                        <a:t>내용이 도출되며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각 폼에는 새로운 내용으로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 </a:t>
                      </a:r>
                      <a:r>
                        <a:rPr lang="ko-KR" altLang="en-US" sz="1000" dirty="0"/>
                        <a:t>입력 할 수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각 날짜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시간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강아지 종류 및 나이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예약자 이름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전화번호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위치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거리 이벤트 등을 수정할 수 있다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899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버튼을 클릭하면 해당 예약 수정 내용이 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수정 되며</a:t>
                      </a:r>
                      <a:r>
                        <a:rPr lang="en-US" altLang="ko-KR" sz="1050" dirty="0"/>
                        <a:t>, DB</a:t>
                      </a:r>
                      <a:r>
                        <a:rPr lang="ko-KR" altLang="en-US" sz="1050" dirty="0"/>
                        <a:t>에 반영된다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페이지는 사용자가 예약 시 입력한 올바른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50" dirty="0"/>
                        <a:t>    비밀번호를 입력해야 들어올 수 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39463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18512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F44490A3-3F42-38AA-B0B7-4AAF7A53D91D}"/>
              </a:ext>
            </a:extLst>
          </p:cNvPr>
          <p:cNvSpPr/>
          <p:nvPr/>
        </p:nvSpPr>
        <p:spPr>
          <a:xfrm>
            <a:off x="5593580" y="1068726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A83BEC7-F139-F338-1985-969D6FF88A0F}"/>
              </a:ext>
            </a:extLst>
          </p:cNvPr>
          <p:cNvSpPr/>
          <p:nvPr/>
        </p:nvSpPr>
        <p:spPr>
          <a:xfrm>
            <a:off x="2454541" y="157081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58DE576-919B-3D43-340B-AA0F41C5BC79}"/>
              </a:ext>
            </a:extLst>
          </p:cNvPr>
          <p:cNvSpPr/>
          <p:nvPr/>
        </p:nvSpPr>
        <p:spPr>
          <a:xfrm>
            <a:off x="5634556" y="5340866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02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C904-24BB-934B-E149-8E973A82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1A1710-C6AD-A15A-E084-077F88CDD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90" y="681035"/>
            <a:ext cx="8407356" cy="617696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32A7D2A-5444-76C3-4BD0-FD500FB6DB68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FA750E-D080-3470-F32D-E28CB55E5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65288"/>
              </p:ext>
            </p:extLst>
          </p:nvPr>
        </p:nvGraphicFramePr>
        <p:xfrm>
          <a:off x="8365066" y="681035"/>
          <a:ext cx="3826934" cy="6178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124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페이지는 사용자가 해당 서비스의 이용 요금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을 알 수 있게 한다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각 페이지의 디자인은 하늘색 계열</a:t>
                      </a:r>
                      <a:r>
                        <a:rPr lang="en-US" altLang="ko-KR" sz="1050" b="0" dirty="0"/>
                        <a:t>, </a:t>
                      </a:r>
                      <a:r>
                        <a:rPr lang="ko-KR" altLang="en-US" sz="1050" b="0" dirty="0"/>
                        <a:t>박스는 강아지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색인 베이지색 계열로 선정했다</a:t>
                      </a:r>
                      <a:r>
                        <a:rPr lang="en-US" altLang="ko-KR" sz="1050" b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8515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각각 표시되는 내용은 견 종 종류 및 크기</a:t>
                      </a:r>
                      <a:r>
                        <a:rPr lang="en-US" altLang="ko-KR" sz="100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놀이 리스트 및 활동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상담 후 결정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추가 옵션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등이 있다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  각 버튼 위에 </a:t>
                      </a:r>
                      <a:r>
                        <a:rPr lang="en-US" altLang="ko-KR" sz="1000" dirty="0"/>
                        <a:t>hover </a:t>
                      </a:r>
                      <a:r>
                        <a:rPr lang="ko-KR" altLang="en-US" sz="1000" dirty="0"/>
                        <a:t>되었을 때 동적인 이벤트 삽입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874217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5837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11831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368552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FB5A3EE1-782D-4DFA-2DA9-D4956153F002}"/>
              </a:ext>
            </a:extLst>
          </p:cNvPr>
          <p:cNvSpPr/>
          <p:nvPr/>
        </p:nvSpPr>
        <p:spPr>
          <a:xfrm>
            <a:off x="204648" y="1058601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D364D71-AAFA-D473-6F84-611D14685EE3}"/>
              </a:ext>
            </a:extLst>
          </p:cNvPr>
          <p:cNvSpPr/>
          <p:nvPr/>
        </p:nvSpPr>
        <p:spPr>
          <a:xfrm>
            <a:off x="1190764" y="2543374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92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9D46-113D-AE4B-0353-7FD4D29D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713B62-8DD4-1222-4604-15103EF73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035"/>
            <a:ext cx="8365066" cy="618689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869B4E6-43DE-7CD7-07D9-3595DD9F5A7B}"/>
              </a:ext>
            </a:extLst>
          </p:cNvPr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8. </a:t>
            </a:r>
            <a:r>
              <a:rPr lang="ko-KR" altLang="en-US" dirty="0"/>
              <a:t>전체 디자인 설명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CEA56E3-52A5-9CB1-21CF-8D05A9C8C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09995"/>
              </p:ext>
            </p:extLst>
          </p:nvPr>
        </p:nvGraphicFramePr>
        <p:xfrm>
          <a:off x="8365066" y="681035"/>
          <a:ext cx="3826934" cy="619626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1001">
                  <a:extLst>
                    <a:ext uri="{9D8B030D-6E8A-4147-A177-3AD203B41FA5}">
                      <a16:colId xmlns:a16="http://schemas.microsoft.com/office/drawing/2014/main" val="1852480750"/>
                    </a:ext>
                  </a:extLst>
                </a:gridCol>
                <a:gridCol w="3445933">
                  <a:extLst>
                    <a:ext uri="{9D8B030D-6E8A-4147-A177-3AD203B41FA5}">
                      <a16:colId xmlns:a16="http://schemas.microsoft.com/office/drawing/2014/main" val="3597038806"/>
                    </a:ext>
                  </a:extLst>
                </a:gridCol>
              </a:tblGrid>
              <a:tr h="10097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1.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해당 기능은 </a:t>
                      </a:r>
                      <a:r>
                        <a:rPr lang="en-US" altLang="ko-KR" sz="1050" b="0" dirty="0"/>
                        <a:t>Q&amp;A</a:t>
                      </a:r>
                      <a:r>
                        <a:rPr lang="ko-KR" altLang="en-US" sz="1050" b="0" dirty="0"/>
                        <a:t>와 사용자가 의견을 전달할 수</a:t>
                      </a:r>
                      <a:endParaRPr lang="en-US" altLang="ko-KR" sz="105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</a:t>
                      </a:r>
                      <a:r>
                        <a:rPr lang="ko-KR" altLang="en-US" sz="1050" b="0" dirty="0"/>
                        <a:t>있는 페이지 이다</a:t>
                      </a:r>
                      <a:r>
                        <a:rPr lang="en-US" altLang="ko-KR" sz="1050" b="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105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b="0" dirty="0"/>
                        <a:t>모든 사용자가 해당 의견을 낼 수 있으며</a:t>
                      </a:r>
                      <a:r>
                        <a:rPr lang="en-US" altLang="ko-KR" sz="1050" b="0" dirty="0"/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b="0" dirty="0"/>
                        <a:t>    </a:t>
                      </a:r>
                      <a:r>
                        <a:rPr lang="ko-KR" altLang="en-US" sz="1050" b="0" dirty="0"/>
                        <a:t>내용은 관리자 페이지에서 관리자가 볼 수 있다</a:t>
                      </a:r>
                      <a:r>
                        <a:rPr lang="en-US" altLang="ko-KR" sz="1050" b="0" dirty="0"/>
                        <a:t>.</a:t>
                      </a:r>
                      <a:r>
                        <a:rPr lang="ko-KR" altLang="en-US" sz="1050" b="0" dirty="0"/>
                        <a:t> </a:t>
                      </a:r>
                      <a:endParaRPr lang="en-US" altLang="ko-KR" sz="10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709574"/>
                  </a:ext>
                </a:extLst>
              </a:tr>
              <a:tr h="8471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dirty="0"/>
                        <a:t>해당 기능은 해당 </a:t>
                      </a:r>
                      <a:r>
                        <a:rPr lang="en-US" altLang="ko-KR" sz="1000" dirty="0" err="1"/>
                        <a:t>QnA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페이지를 인쇄할 수 있는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기능이다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-   </a:t>
                      </a:r>
                      <a:r>
                        <a:rPr lang="ko-KR" altLang="en-US" sz="1000" dirty="0"/>
                        <a:t>관련 페이지 자체를 인쇄할 수 있게 해당 내용을</a:t>
                      </a:r>
                      <a:endParaRPr lang="en-US" altLang="ko-KR" sz="10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dirty="0"/>
                        <a:t>    </a:t>
                      </a:r>
                      <a:r>
                        <a:rPr lang="ko-KR" altLang="en-US" sz="1000" dirty="0"/>
                        <a:t>제작한다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52863"/>
                  </a:ext>
                </a:extLst>
              </a:tr>
              <a:tr h="8850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사용자가 궁금해 할 만한 내용을 </a:t>
                      </a:r>
                      <a:r>
                        <a:rPr lang="en-US" altLang="ko-KR" sz="1050" dirty="0"/>
                        <a:t>5</a:t>
                      </a:r>
                      <a:r>
                        <a:rPr lang="ko-KR" altLang="en-US" sz="1050" dirty="0"/>
                        <a:t>가지로 뽑아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 </a:t>
                      </a:r>
                      <a:r>
                        <a:rPr lang="ko-KR" altLang="en-US" sz="1050" dirty="0"/>
                        <a:t>해당 내용을 전달한다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50" dirty="0"/>
                        <a:t>추가로 해당 페이지를 관리하는 관리자와 연락처도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넣어놓는다</a:t>
                      </a:r>
                      <a:r>
                        <a:rPr lang="en-US" altLang="ko-KR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82030"/>
                  </a:ext>
                </a:extLst>
              </a:tr>
              <a:tr h="8850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해당 기능은 사용자가 해당 서비스를 이용하면서</a:t>
                      </a:r>
                      <a:endParaRPr lang="en-US" altLang="ko-KR" sz="105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50" dirty="0"/>
                        <a:t>   </a:t>
                      </a:r>
                      <a:r>
                        <a:rPr lang="ko-KR" altLang="en-US" sz="1050" dirty="0"/>
                        <a:t>기능을 만족하는지 설문조사를 받는 기능이다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50" dirty="0"/>
                        <a:t>이 기능을 통해 사용자의 의견을 반영하여 유지보수해야 하는 내용을 파악할 수 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2112"/>
                  </a:ext>
                </a:extLst>
              </a:tr>
              <a:tr h="1208624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639"/>
                  </a:ext>
                </a:extLst>
              </a:tr>
              <a:tr h="1341353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7011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AFA2E985-1A81-B9E1-9701-426C490EB770}"/>
              </a:ext>
            </a:extLst>
          </p:cNvPr>
          <p:cNvSpPr/>
          <p:nvPr/>
        </p:nvSpPr>
        <p:spPr>
          <a:xfrm>
            <a:off x="2434549" y="102635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5B161A4-DC8E-A900-4A38-3DF8CEAA415C}"/>
              </a:ext>
            </a:extLst>
          </p:cNvPr>
          <p:cNvSpPr/>
          <p:nvPr/>
        </p:nvSpPr>
        <p:spPr>
          <a:xfrm>
            <a:off x="5714138" y="1167338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0689C5B-FE2A-A871-1C05-74EB964F8623}"/>
              </a:ext>
            </a:extLst>
          </p:cNvPr>
          <p:cNvSpPr/>
          <p:nvPr/>
        </p:nvSpPr>
        <p:spPr>
          <a:xfrm>
            <a:off x="2168098" y="2201327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F61DE6-A556-B982-545B-761C5C05C226}"/>
              </a:ext>
            </a:extLst>
          </p:cNvPr>
          <p:cNvSpPr/>
          <p:nvPr/>
        </p:nvSpPr>
        <p:spPr>
          <a:xfrm>
            <a:off x="5706534" y="4738971"/>
            <a:ext cx="389466" cy="38946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13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1898</Words>
  <Application>Microsoft Office PowerPoint</Application>
  <PresentationFormat>와이드스크린</PresentationFormat>
  <Paragraphs>515</Paragraphs>
  <Slides>18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휴먼둥근헤드라인</vt:lpstr>
      <vt:lpstr>Arial</vt:lpstr>
      <vt:lpstr>Arial Rounded MT Bold</vt:lpstr>
      <vt:lpstr>Ebrima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sengchall sin</dc:creator>
  <cp:lastModifiedBy>sengchall sin</cp:lastModifiedBy>
  <cp:revision>17</cp:revision>
  <dcterms:created xsi:type="dcterms:W3CDTF">2025-12-22T06:01:35Z</dcterms:created>
  <dcterms:modified xsi:type="dcterms:W3CDTF">2025-12-29T13:35:28Z</dcterms:modified>
</cp:coreProperties>
</file>